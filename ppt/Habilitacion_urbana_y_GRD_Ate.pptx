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te en contexto" id="{27cff6e9-cccd-45cd-8345-b5151bdd361d}">
          <p14:sldIdLst>
            <p14:sldId id="256"/>
            <p14:sldId id="257"/>
            <p14:sldId id="258"/>
            <p14:sldId id="259"/>
          </p14:sldIdLst>
        </p14:section>
        <p14:section name="Peligros y casos" id="{06e030a7-27ef-4859-8674-1daa4f97d803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Gestión y propuestas" id="{ef91bba9-42e9-6174-8290-4083ead0e510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+mj-lt"/>
              </a:rPr>
              <a:t>Población de Ate según censos (INEI)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Población de Ate según censos (INEI)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2007</c:v>
                  </c:pt>
                  <c:pt idx="1">
                    <c:v>2017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478278</c:v>
                </c:pt>
                <c:pt idx="1">
                  <c:v>599196</c:v>
                </c:pt>
                <c:pt idx="2">
                  <c:v>669000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+mj-lt"/>
              </a:rPr>
              <a:t>Población en riesgo muy alto ante sismo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Población en riesgo muy alto ante sismo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Ate</c:v>
                  </c:pt>
                  <c:pt idx="1">
                    <c:v>San Juan de Lurigancho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361554</c:v>
                </c:pt>
                <c:pt idx="1">
                  <c:v>836440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414"/>
                </a:solidFill>
                <a:latin typeface="+mj-lt"/>
              </a:defRPr>
            </a:pPr>
            <a:r>
              <a:rPr sz="1400" b="0" i="0" u="none" strike="noStrike">
                <a:solidFill>
                  <a:srgbClr val="141414"/>
                </a:solidFill>
                <a:latin typeface="+mj-lt"/>
              </a:rPr>
              <a:t>Infraestructura necesaria vs. construida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Construido</c:v>
                </c:pt>
              </c:strCache>
            </c:strRef>
          </c:tx>
          <c:spPr>
            <a:solidFill>
              <a:srgbClr val="F26B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Vías (75 km)</c:v>
                  </c:pt>
                  <c:pt idx="1">
                    <c:v>Escaleras (33 km)</c:v>
                  </c:pt>
                  <c:pt idx="2">
                    <c:v>Muros (28 km)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25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Pendiente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Vías (75 km)</c:v>
                  </c:pt>
                  <c:pt idx="1">
                    <c:v>Escaleras (33 km)</c:v>
                  </c:pt>
                  <c:pt idx="2">
                    <c:v>Muros (28 km)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</c:v>
                </c:pt>
                <c:pt idx="1">
                  <c:v>75</c:v>
                </c:pt>
                <c:pt idx="2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PPT aplica los conceptos del tema general a un territorio concreto: Ate, Lima 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18 años Ate sumó unos 190 mil habitantes. Gran parte de ese crecimiento se fue a las laderas. Según la Defensoría, más de la mitad de su población está en riesgo muy alto ante un sismo.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alumnos que ubiquen en Google Maps cada zona. Huaycán está en la parte este del distrito, sobre quebradas que bajan al Rímac.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Huaycán se fundó el 15 de julio de 1984 como proyecto especial de vivienda. Es un buen ejemplo de habilitación progresiva planificada que luego fue superada por la ocupación informal.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 es un caso multipeligro. Por eso la habilitación urbana en este distrito no puede limitarse a aprobar planos.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porcentaje es una aproximación: el dato de la Defensoría (2023) se divide entre la población censal de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el sector catastral 44 tiene 2,545 habitantes (Censo 2017). Las viviendas de madera se concentran en las laderas.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video de la mototaxi (buscar 'huaico Huaycán mototaxi 2023'). Analizar: peligro = lluvia intensa + quebrada; vulnerabilidad = calle sin drenaje sobre el cauce.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muro de contención es la obra más común en las laderas de Lima. Cuando lo hacen los vecinos sin ingeniero, el muro mismo se vuelve un peligro.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incendios en un mes en asentamientos de Ate. No todo riesgo es natural: la forma de urbanizar también crea el riesgo de incendio.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estudio estima el stock ideal de vías, escaleras y muros para tres barrios de ladera. El 25 % construido aplica al conjunto. Es el costo de habilitar después de ocupar.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Actividad: juego de roles. Cada grupo representa un actor y debe decidir si aprueba una habilitación en una ladera de Huaycán.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Tarea sugerida: descargar el PPRRD de Ate desde SIGRID-CENEPRED y listar tres proyectos que propone para Huaycán.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Ordenar las propuestas según su costo y su urgencia. Discutir cuál es políticamente más difícil (normalmente, reasentar).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aplicado: el alumno pasa del concepto general al análisis de un lugar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de Huaycán provienen de informes técnicos por sector; conviene revisar el informe del ámbito que se trabaje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Habilitación urbana y gestión del riesgo de desastres · Distrito de 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Habilitación urbana y gestión del riesgo de desastres · Distrito de 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Habilitación urbana y gestión del riesgo de desastres en Ate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Caso aplicado: el tercer distrito más poblado de Lima, entre el río Rímac y los cerros</a:t>
            </a:r>
            <a:endParaRPr lang="en-US" sz="2000" dirty="0"/>
          </a:p>
        </p:txBody>
      </p:sp>
      <p:sp>
        <p:nvSpPr>
          <p:cNvPr id="4" name="icono-circulo"/>
          <p:cNvSpPr/>
          <p:nvPr/>
        </p:nvSpPr>
        <p:spPr>
          <a:xfrm>
            <a:off x="731520" y="731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5097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 en cifras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54864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tat-valor"/>
          <p:cNvSpPr txBox="1"/>
          <p:nvPr/>
        </p:nvSpPr>
        <p:spPr>
          <a:xfrm>
            <a:off x="777240" y="1554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669 mil</a:t>
            </a:r>
            <a:endParaRPr lang="en-US" sz="4000" dirty="0"/>
          </a:p>
        </p:txBody>
      </p:sp>
      <p:sp>
        <p:nvSpPr>
          <p:cNvPr id="5" name="stat-texto"/>
          <p:cNvSpPr txBox="1"/>
          <p:nvPr/>
        </p:nvSpPr>
        <p:spPr>
          <a:xfrm>
            <a:off x="777240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habitantes (Censo 2025)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3364992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stat-valor"/>
          <p:cNvSpPr txBox="1"/>
          <p:nvPr/>
        </p:nvSpPr>
        <p:spPr>
          <a:xfrm>
            <a:off x="3593592" y="1554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3.°</a:t>
            </a:r>
            <a:endParaRPr lang="en-US" sz="4000" dirty="0"/>
          </a:p>
        </p:txBody>
      </p:sp>
      <p:sp>
        <p:nvSpPr>
          <p:cNvPr id="8" name="stat-texto"/>
          <p:cNvSpPr txBox="1"/>
          <p:nvPr/>
        </p:nvSpPr>
        <p:spPr>
          <a:xfrm>
            <a:off x="3593592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distrito más poblado de Lima, tras SJL y SMP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6181344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stat-valor"/>
          <p:cNvSpPr txBox="1"/>
          <p:nvPr/>
        </p:nvSpPr>
        <p:spPr>
          <a:xfrm>
            <a:off x="6409944" y="15544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361,554</a:t>
            </a:r>
            <a:endParaRPr lang="en-US" sz="4000" dirty="0"/>
          </a:p>
        </p:txBody>
      </p:sp>
      <p:sp>
        <p:nvSpPr>
          <p:cNvPr id="11" name="stat-texto"/>
          <p:cNvSpPr txBox="1"/>
          <p:nvPr/>
        </p:nvSpPr>
        <p:spPr>
          <a:xfrm>
            <a:off x="6409944" y="26974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personas en riesgo muy alto ante sismo</a:t>
            </a:r>
            <a:endParaRPr lang="en-US" sz="1400" dirty="0"/>
          </a:p>
        </p:txBody>
      </p:sp>
      <p:sp>
        <p:nvSpPr>
          <p:cNvPr id="12" name="stat-card"/>
          <p:cNvSpPr/>
          <p:nvPr/>
        </p:nvSpPr>
        <p:spPr>
          <a:xfrm>
            <a:off x="8997696" y="1371600"/>
            <a:ext cx="2615184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stat-valor"/>
          <p:cNvSpPr txBox="1"/>
          <p:nvPr/>
        </p:nvSpPr>
        <p:spPr>
          <a:xfrm>
            <a:off x="9226296" y="1554480"/>
            <a:ext cx="2157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4</a:t>
            </a:r>
            <a:endParaRPr lang="en-US" sz="4000" dirty="0"/>
          </a:p>
        </p:txBody>
      </p:sp>
      <p:sp>
        <p:nvSpPr>
          <p:cNvPr id="14" name="stat-texto"/>
          <p:cNvSpPr txBox="1"/>
          <p:nvPr/>
        </p:nvSpPr>
        <p:spPr>
          <a:xfrm>
            <a:off x="9226296" y="2697480"/>
            <a:ext cx="2157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máximo peligro sísmico (Norma E.030)</a:t>
            </a:r>
            <a:endParaRPr lang="en-US" sz="1400" dirty="0"/>
          </a:p>
        </p:txBody>
      </p:sp>
      <p:graphicFrame>
        <p:nvGraphicFramePr>
          <p:cNvPr id="15" name="grafico" descr=""/>
          <p:cNvGraphicFramePr/>
          <p:nvPr/>
        </p:nvGraphicFramePr>
        <p:xfrm>
          <a:off x="548640" y="3749040"/>
          <a:ext cx="1106424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INEI, Censos Nacionales 2007, 2017 y 2025 (cifra 2025 redondeada); Defensoría del Pueblo, Informe Defensorial N.° 006-2023-DP-AAE.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territorio con tres pisos de riesgo</a:t>
            </a:r>
            <a:endParaRPr lang="en-US" sz="3200" dirty="0"/>
          </a:p>
        </p:txBody>
      </p:sp>
      <p:sp>
        <p:nvSpPr>
          <p:cNvPr id="3" name="franja-territorio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Laderas y quebradas (zonas altas)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Huaycán, Santa Clara y asentamientos humanos en cerros. Pendientes fuertes, viviendas de madera o ladrillo sin supervisión, acceso por escaleras.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4630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Huaicos · caída de rocas · sismo</a:t>
            </a:r>
            <a:endParaRPr lang="en-US" sz="1500" dirty="0"/>
          </a:p>
        </p:txBody>
      </p:sp>
      <p:sp>
        <p:nvSpPr>
          <p:cNvPr id="6" name="franja-territorio"/>
          <p:cNvSpPr/>
          <p:nvPr/>
        </p:nvSpPr>
        <p:spPr>
          <a:xfrm>
            <a:off x="548640" y="288036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97180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Planicie consolidada (zona media)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Urbanizaciones y zona industrial a lo largo de la Carretera Central y la Av. Nicolás Ayllón.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9718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Sismo · incendios industriales</a:t>
            </a:r>
            <a:endParaRPr lang="en-US" sz="1500" dirty="0"/>
          </a:p>
        </p:txBody>
      </p:sp>
      <p:sp>
        <p:nvSpPr>
          <p:cNvPr id="9" name="franja-territorio"/>
          <p:cNvSpPr/>
          <p:nvPr/>
        </p:nvSpPr>
        <p:spPr>
          <a:xfrm>
            <a:off x="548640" y="438912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480560"/>
            <a:ext cx="7223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Ribera del río Rímac (zona baja)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Viviendas cerca de la faja marginal, donde la ley prohíbe ocupar.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4805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Inundación · erosión</a:t>
            </a:r>
            <a:endParaRPr lang="en-US" sz="1500" dirty="0"/>
          </a:p>
        </p:txBody>
      </p:sp>
      <p:sp>
        <p:nvSpPr>
          <p:cNvPr id="12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PREDES (2009), distritos de Lima con zonas de laderas; CENEPRED, evaluaciones de riesgo en Huaycán (2024).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creció Ate: de lo planificado a lo informal</a:t>
            </a:r>
            <a:endParaRPr lang="en-US" sz="3200" dirty="0"/>
          </a:p>
        </p:txBody>
      </p:sp>
      <p:sp>
        <p:nvSpPr>
          <p:cNvPr id="3" name="linea-tiempo"/>
          <p:cNvSpPr/>
          <p:nvPr/>
        </p:nvSpPr>
        <p:spPr>
          <a:xfrm>
            <a:off x="731520" y="2286000"/>
            <a:ext cx="10698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hito"/>
          <p:cNvSpPr/>
          <p:nvPr/>
        </p:nvSpPr>
        <p:spPr>
          <a:xfrm>
            <a:off x="1645920" y="213055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hito-anio"/>
          <p:cNvSpPr txBox="1"/>
          <p:nvPr/>
        </p:nvSpPr>
        <p:spPr>
          <a:xfrm>
            <a:off x="777240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1984</a:t>
            </a:r>
            <a:endParaRPr lang="en-US" sz="2000" dirty="0"/>
          </a:p>
        </p:txBody>
      </p:sp>
      <p:sp>
        <p:nvSpPr>
          <p:cNvPr id="6" name="hito-texto"/>
          <p:cNvSpPr txBox="1"/>
          <p:nvPr/>
        </p:nvSpPr>
        <p:spPr>
          <a:xfrm>
            <a:off x="777240" y="2606040"/>
            <a:ext cx="2048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Nace Huaycán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Proyecto planificado de la Municipalidad de Lima: lotes ordenados en Unidades Comunales de Vivienda</a:t>
            </a:r>
            <a:endParaRPr lang="en-US" sz="1400" dirty="0"/>
          </a:p>
        </p:txBody>
      </p:sp>
      <p:sp>
        <p:nvSpPr>
          <p:cNvPr id="7" name="hito"/>
          <p:cNvSpPr/>
          <p:nvPr/>
        </p:nvSpPr>
        <p:spPr>
          <a:xfrm>
            <a:off x="3785616" y="213055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hito-anio"/>
          <p:cNvSpPr txBox="1"/>
          <p:nvPr/>
        </p:nvSpPr>
        <p:spPr>
          <a:xfrm>
            <a:off x="2916936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</a:t>
            </a:r>
            <a:endParaRPr lang="en-US" sz="2000" dirty="0"/>
          </a:p>
        </p:txBody>
      </p:sp>
      <p:sp>
        <p:nvSpPr>
          <p:cNvPr id="9" name="hito-texto"/>
          <p:cNvSpPr txBox="1"/>
          <p:nvPr/>
        </p:nvSpPr>
        <p:spPr>
          <a:xfrm>
            <a:off x="2916936" y="2606040"/>
            <a:ext cx="2048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Ocupación de laderas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Nuevas zonas suben por los cerros sin habilitación urbana previa</a:t>
            </a:r>
            <a:endParaRPr lang="en-US" sz="1400" dirty="0"/>
          </a:p>
        </p:txBody>
      </p:sp>
      <p:sp>
        <p:nvSpPr>
          <p:cNvPr id="10" name="hito"/>
          <p:cNvSpPr/>
          <p:nvPr/>
        </p:nvSpPr>
        <p:spPr>
          <a:xfrm>
            <a:off x="5925312" y="213055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hito-anio"/>
          <p:cNvSpPr txBox="1"/>
          <p:nvPr/>
        </p:nvSpPr>
        <p:spPr>
          <a:xfrm>
            <a:off x="5056632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2000" dirty="0"/>
          </a:p>
        </p:txBody>
      </p:sp>
      <p:sp>
        <p:nvSpPr>
          <p:cNvPr id="12" name="hito-texto"/>
          <p:cNvSpPr txBox="1"/>
          <p:nvPr/>
        </p:nvSpPr>
        <p:spPr>
          <a:xfrm>
            <a:off x="5056632" y="2606040"/>
            <a:ext cx="2048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478 mil hab.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Censo INEI. La ciudad informal sigue avanzando cerro arriba</a:t>
            </a:r>
            <a:endParaRPr lang="en-US" sz="1400" dirty="0"/>
          </a:p>
        </p:txBody>
      </p:sp>
      <p:sp>
        <p:nvSpPr>
          <p:cNvPr id="13" name="hito"/>
          <p:cNvSpPr/>
          <p:nvPr/>
        </p:nvSpPr>
        <p:spPr>
          <a:xfrm>
            <a:off x="8065008" y="213055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hito-anio"/>
          <p:cNvSpPr txBox="1"/>
          <p:nvPr/>
        </p:nvSpPr>
        <p:spPr>
          <a:xfrm>
            <a:off x="7196328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2000" dirty="0"/>
          </a:p>
        </p:txBody>
      </p:sp>
      <p:sp>
        <p:nvSpPr>
          <p:cNvPr id="15" name="hito-texto"/>
          <p:cNvSpPr txBox="1"/>
          <p:nvPr/>
        </p:nvSpPr>
        <p:spPr>
          <a:xfrm>
            <a:off x="7196328" y="2606040"/>
            <a:ext cx="2048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599 mil hab.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Censo INEI. Huaicos del Niño Costero golpean Lima Este</a:t>
            </a:r>
            <a:endParaRPr lang="en-US" sz="1400" dirty="0"/>
          </a:p>
        </p:txBody>
      </p:sp>
      <p:sp>
        <p:nvSpPr>
          <p:cNvPr id="16" name="hito"/>
          <p:cNvSpPr/>
          <p:nvPr/>
        </p:nvSpPr>
        <p:spPr>
          <a:xfrm>
            <a:off x="10204704" y="213055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hito-anio"/>
          <p:cNvSpPr txBox="1"/>
          <p:nvPr/>
        </p:nvSpPr>
        <p:spPr>
          <a:xfrm>
            <a:off x="9336024" y="15087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000" dirty="0"/>
          </a:p>
        </p:txBody>
      </p:sp>
      <p:sp>
        <p:nvSpPr>
          <p:cNvPr id="18" name="hito-texto"/>
          <p:cNvSpPr txBox="1"/>
          <p:nvPr/>
        </p:nvSpPr>
        <p:spPr>
          <a:xfrm>
            <a:off x="9336024" y="2606040"/>
            <a:ext cx="20482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669 mil hab.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Censo INEI. Ate aprueba su PPRRD 2025–2030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Huaycán muestra el contraste: un núcleo planificado con lotes y vías ordenadas, y ampliaciones informales en las zonas altas.</a:t>
            </a:r>
            <a:endParaRPr lang="en-US" sz="1600" dirty="0"/>
          </a:p>
        </p:txBody>
      </p:sp>
      <p:sp>
        <p:nvSpPr>
          <p:cNvPr id="20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INEI, Censos Nacionales; Municipalidad Distrital de Ate, PPRRD 2025–2030 (SIGRID-CENEPRED).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Peligros identificados en Ate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Sismo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Afecta todo el distrito. El daño mayor se espera en viviendas autoconstruidas en laderas.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32816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detritos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455676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Huaicos por quebradas que se activan con lluvias intensas, como en Huaycán.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810768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54" y="17318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Deslizamientos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833628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Caída de rocas y colapso de muros de contención en zonas altas.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54864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9" name="icono-circulo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21" name="tarjeta-titulo"/>
          <p:cNvSpPr txBox="1"/>
          <p:nvPr/>
        </p:nvSpPr>
        <p:spPr>
          <a:xfrm>
            <a:off x="146304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Inundación</a:t>
            </a:r>
            <a:endParaRPr lang="en-US" sz="1700" dirty="0"/>
          </a:p>
        </p:txBody>
      </p:sp>
      <p:sp>
        <p:nvSpPr>
          <p:cNvPr id="22" name="tarjeta-texto"/>
          <p:cNvSpPr txBox="1"/>
          <p:nvPr/>
        </p:nvSpPr>
        <p:spPr>
          <a:xfrm>
            <a:off x="77724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Desborde del Rímac y anegamiento de calles por lluvias, como en 2023.</a:t>
            </a:r>
            <a:endParaRPr lang="en-US" sz="1400" dirty="0"/>
          </a:p>
        </p:txBody>
      </p:sp>
      <p:sp>
        <p:nvSpPr>
          <p:cNvPr id="23" name="tarjeta"/>
          <p:cNvSpPr/>
          <p:nvPr/>
        </p:nvSpPr>
        <p:spPr>
          <a:xfrm>
            <a:off x="432816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4" name="icono-circulo"/>
          <p:cNvSpPr/>
          <p:nvPr/>
        </p:nvSpPr>
        <p:spPr>
          <a:xfrm>
            <a:off x="455676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34" y="4132174"/>
            <a:ext cx="285293" cy="285293"/>
          </a:xfrm>
          <a:prstGeom prst="rect">
            <a:avLst/>
          </a:prstGeom>
        </p:spPr>
      </p:pic>
      <p:sp>
        <p:nvSpPr>
          <p:cNvPr id="26" name="tarjeta-titulo"/>
          <p:cNvSpPr txBox="1"/>
          <p:nvPr/>
        </p:nvSpPr>
        <p:spPr>
          <a:xfrm>
            <a:off x="524256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Incendios urbanos</a:t>
            </a:r>
            <a:endParaRPr lang="en-US" sz="1700" dirty="0"/>
          </a:p>
        </p:txBody>
      </p:sp>
      <p:sp>
        <p:nvSpPr>
          <p:cNvPr id="27" name="tarjeta-texto"/>
          <p:cNvSpPr txBox="1"/>
          <p:nvPr/>
        </p:nvSpPr>
        <p:spPr>
          <a:xfrm>
            <a:off x="455676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Viviendas precarias de madera; tres incendios en asentamientos solo en enero de 2026.</a:t>
            </a:r>
            <a:endParaRPr lang="en-US" sz="1400" dirty="0"/>
          </a:p>
        </p:txBody>
      </p:sp>
      <p:sp>
        <p:nvSpPr>
          <p:cNvPr id="28" name="tarjeta"/>
          <p:cNvSpPr/>
          <p:nvPr/>
        </p:nvSpPr>
        <p:spPr>
          <a:xfrm>
            <a:off x="810768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9" name="icono-circulo"/>
          <p:cNvSpPr/>
          <p:nvPr/>
        </p:nvSpPr>
        <p:spPr>
          <a:xfrm>
            <a:off x="833628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954" y="4132174"/>
            <a:ext cx="285293" cy="285293"/>
          </a:xfrm>
          <a:prstGeom prst="rect">
            <a:avLst/>
          </a:prstGeom>
        </p:spPr>
      </p:pic>
      <p:sp>
        <p:nvSpPr>
          <p:cNvPr id="31" name="tarjeta-titulo"/>
          <p:cNvSpPr txBox="1"/>
          <p:nvPr/>
        </p:nvSpPr>
        <p:spPr>
          <a:xfrm>
            <a:off x="902208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Peligros tecnológicos</a:t>
            </a:r>
            <a:endParaRPr lang="en-US" sz="1700" dirty="0"/>
          </a:p>
        </p:txBody>
      </p:sp>
      <p:sp>
        <p:nvSpPr>
          <p:cNvPr id="32" name="tarjeta-texto"/>
          <p:cNvSpPr txBox="1"/>
          <p:nvPr/>
        </p:nvSpPr>
        <p:spPr>
          <a:xfrm>
            <a:off x="833628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Zona industrial y almacenes junto a áreas residenciales.</a:t>
            </a:r>
            <a:endParaRPr lang="en-US" sz="1400" dirty="0"/>
          </a:p>
        </p:txBody>
      </p:sp>
      <p:sp>
        <p:nvSpPr>
          <p:cNvPr id="3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CENEPRED (2024), informes EVAR de Huaycán; INDECI–COEN, reportes de emergencia 2023 y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sísmico: Ate frente a Lima Este</a:t>
            </a:r>
            <a:endParaRPr lang="en-US" sz="3200" dirty="0"/>
          </a:p>
        </p:txBody>
      </p:sp>
      <p:graphicFrame>
        <p:nvGraphicFramePr>
          <p:cNvPr id="3" name="grafico" descr=""/>
          <p:cNvGraphicFramePr/>
          <p:nvPr/>
        </p:nvGraphicFramePr>
        <p:xfrm>
          <a:off x="548640" y="128016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7498080" y="1371600"/>
            <a:ext cx="41148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tat-valor"/>
          <p:cNvSpPr txBox="1"/>
          <p:nvPr/>
        </p:nvSpPr>
        <p:spPr>
          <a:xfrm>
            <a:off x="772668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54%</a:t>
            </a:r>
            <a:endParaRPr lang="en-US" sz="4000" dirty="0"/>
          </a:p>
        </p:txBody>
      </p:sp>
      <p:sp>
        <p:nvSpPr>
          <p:cNvPr id="6" name="stat-texto"/>
          <p:cNvSpPr txBox="1"/>
          <p:nvPr/>
        </p:nvSpPr>
        <p:spPr>
          <a:xfrm>
            <a:off x="772668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 la población de Ate (361,554 de 669 mil) estaría en riesgo muy alto</a:t>
            </a:r>
            <a:endParaRPr lang="en-US" sz="1400" dirty="0"/>
          </a:p>
        </p:txBody>
      </p:sp>
      <p:sp>
        <p:nvSpPr>
          <p:cNvPr id="7" name="lista"/>
          <p:cNvSpPr txBox="1"/>
          <p:nvPr/>
        </p:nvSpPr>
        <p:spPr>
          <a:xfrm>
            <a:off x="7498080" y="361188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Ate es el 2.° distrito de Lima Este con más población en riesgo muy alto.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Factores: autoconstrucción, pendientes y viviendas sin refuerzo.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En el escenario de 8.8, Lima y Callao tendrían de 4 a 7 millones de afectados.</a:t>
            </a:r>
            <a:endParaRPr lang="en-US" sz="15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Defensoría del Pueblo, Informe Defensorial N.° 006-2023-DP-AAE; INDECI–CENEPRED (dic. 2025). Porcentaje: cálculo propio con el Censo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Huaycán bajo la lupa: evaluaciones de CENEPRED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stat-valor"/>
          <p:cNvSpPr txBox="1"/>
          <p:nvPr/>
        </p:nvSpPr>
        <p:spPr>
          <a:xfrm>
            <a:off x="777240" y="1554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18,000</a:t>
            </a:r>
            <a:endParaRPr lang="en-US" sz="4000" dirty="0"/>
          </a:p>
        </p:txBody>
      </p:sp>
      <p:sp>
        <p:nvSpPr>
          <p:cNvPr id="5" name="stat-texto"/>
          <p:cNvSpPr txBox="1"/>
          <p:nvPr/>
        </p:nvSpPr>
        <p:spPr>
          <a:xfrm>
            <a:off x="77724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personas afectadas por lluvias y flujos de detritos en zonas altas (INDECI)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4325112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stat-valor"/>
          <p:cNvSpPr txBox="1"/>
          <p:nvPr/>
        </p:nvSpPr>
        <p:spPr>
          <a:xfrm>
            <a:off x="4553712" y="1554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stat-texto"/>
          <p:cNvSpPr txBox="1"/>
          <p:nvPr/>
        </p:nvSpPr>
        <p:spPr>
          <a:xfrm>
            <a:off x="4553712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ámbitos de Huaycán con Evaluación de Riesgo por flujo de detritos (2024)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80924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stat-valor"/>
          <p:cNvSpPr txBox="1"/>
          <p:nvPr/>
        </p:nvSpPr>
        <p:spPr>
          <a:xfrm>
            <a:off x="8321040" y="1554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329 ha</a:t>
            </a:r>
            <a:endParaRPr lang="en-US" sz="4000" dirty="0"/>
          </a:p>
        </p:txBody>
      </p:sp>
      <p:sp>
        <p:nvSpPr>
          <p:cNvPr id="11" name="stat-texto"/>
          <p:cNvSpPr txBox="1"/>
          <p:nvPr/>
        </p:nvSpPr>
        <p:spPr>
          <a:xfrm>
            <a:off x="8321040" y="26517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evaluadas solo en los sectores catastrales 28 y 29</a:t>
            </a:r>
            <a:endParaRPr lang="en-US" sz="1400" dirty="0"/>
          </a:p>
        </p:txBody>
      </p:sp>
      <p:sp>
        <p:nvSpPr>
          <p:cNvPr id="12" name="tarjeta"/>
          <p:cNvSpPr/>
          <p:nvPr/>
        </p:nvSpPr>
        <p:spPr>
          <a:xfrm>
            <a:off x="548640" y="3749040"/>
            <a:ext cx="53949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3" name="icono-circulo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4109314"/>
            <a:ext cx="285293" cy="285293"/>
          </a:xfrm>
          <a:prstGeom prst="rect">
            <a:avLst/>
          </a:prstGeom>
        </p:spPr>
      </p:pic>
      <p:sp>
        <p:nvSpPr>
          <p:cNvPr id="15" name="tarjeta-titulo"/>
          <p:cNvSpPr txBox="1"/>
          <p:nvPr/>
        </p:nvSpPr>
        <p:spPr>
          <a:xfrm>
            <a:off x="146304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evalúan</a:t>
            </a:r>
            <a:endParaRPr lang="en-US" sz="1700" dirty="0"/>
          </a:p>
        </p:txBody>
      </p:sp>
      <p:sp>
        <p:nvSpPr>
          <p:cNvPr id="16" name="tarjeta-texto"/>
          <p:cNvSpPr txBox="1"/>
          <p:nvPr/>
        </p:nvSpPr>
        <p:spPr>
          <a:xfrm>
            <a:off x="777240" y="4663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Peligro por flujo de detritos, vulnerabilidad de viviendas y población, y nivel de riesgo por sector catastral.</a:t>
            </a:r>
            <a:endParaRPr lang="en-US" sz="1500" dirty="0"/>
          </a:p>
        </p:txBody>
      </p:sp>
      <p:sp>
        <p:nvSpPr>
          <p:cNvPr id="17" name="tarjeta"/>
          <p:cNvSpPr/>
          <p:nvPr/>
        </p:nvSpPr>
        <p:spPr>
          <a:xfrm>
            <a:off x="6217920" y="3749040"/>
            <a:ext cx="53949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8" name="icono-circulo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4109314"/>
            <a:ext cx="285293" cy="285293"/>
          </a:xfrm>
          <a:prstGeom prst="rect">
            <a:avLst/>
          </a:prstGeom>
        </p:spPr>
      </p:pic>
      <p:sp>
        <p:nvSpPr>
          <p:cNvPr id="20" name="tarjeta-titulo"/>
          <p:cNvSpPr txBox="1"/>
          <p:nvPr/>
        </p:nvSpPr>
        <p:spPr>
          <a:xfrm>
            <a:off x="713232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sirven</a:t>
            </a:r>
            <a:endParaRPr lang="en-US" sz="1700" dirty="0"/>
          </a:p>
        </p:txBody>
      </p:sp>
      <p:sp>
        <p:nvSpPr>
          <p:cNvPr id="21" name="tarjeta-texto"/>
          <p:cNvSpPr txBox="1"/>
          <p:nvPr/>
        </p:nvSpPr>
        <p:spPr>
          <a:xfrm>
            <a:off x="6446520" y="4663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Definir si el riesgo es mitigable, qué obras hacer y qué lotes no deben habilitarse.</a:t>
            </a:r>
            <a:endParaRPr lang="en-US" sz="1500" dirty="0"/>
          </a:p>
        </p:txBody>
      </p:sp>
      <p:sp>
        <p:nvSpPr>
          <p:cNvPr id="22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CENEPRED – SIGRID (2024), Informes de evaluación de riesgo por flujo de detritos, ámbitos 1 a 6, Huaycán, distrito de 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Noticia 1: ciclón Yaku, marzo de 2023</a:t>
            </a:r>
            <a:endParaRPr lang="en-US" sz="3200" dirty="0"/>
          </a:p>
        </p:txBody>
      </p:sp>
      <p:sp>
        <p:nvSpPr>
          <p:cNvPr id="3" name="icono-circulo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6148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«Huaico en Huaycán arrastra una mototaxi»</a:t>
            </a:r>
            <a:endParaRPr lang="en-US" sz="2400" dirty="0"/>
          </a:p>
        </p:txBody>
      </p:sp>
      <p:sp>
        <p:nvSpPr>
          <p:cNvPr id="6" name="lista"/>
          <p:cNvSpPr txBox="1"/>
          <p:nvPr/>
        </p:nvSpPr>
        <p:spPr>
          <a:xfrm>
            <a:off x="548640" y="2514600"/>
            <a:ext cx="6675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14 de marzo de 2023: lluvias del ciclón Yaku activan la quebrada de Huaycán.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Un video viral muestra una mototaxi con su conductor arrastrada por lodo y piedras.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La zona Z de Huaycán amaneció anegada; INDECI registró la quebrada Huaycán y la carretera a Huachipa entre los puntos afectados.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Las calles funcionaron como cauce: muchas vías se trazaron sobre el recorrido natural del agua.</a:t>
            </a:r>
            <a:endParaRPr lang="en-US" sz="1600" dirty="0"/>
          </a:p>
        </p:txBody>
      </p:sp>
      <p:sp>
        <p:nvSpPr>
          <p:cNvPr id="7" name="leccion"/>
          <p:cNvSpPr/>
          <p:nvPr/>
        </p:nvSpPr>
        <p:spPr>
          <a:xfrm>
            <a:off x="7589520" y="251460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18120" y="269748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Lección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Una habilitación urbana que respeta el cauce de la quebrada y construye drenaje evita que la calle se convierta en río.</a:t>
            </a:r>
            <a:endParaRPr lang="en-US" sz="2000" dirty="0"/>
          </a:p>
        </p:txBody>
      </p:sp>
      <p:sp>
        <p:nvSpPr>
          <p:cNvPr id="9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El Popular y Canal N (14 mar. 2023); Panamericana; INDECI, balance de lluvias (mayo 2023).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Noticia 2: colapsan muros de contención en Huaycán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53949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Cerro El Ángel (set. 2025)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Colapsa un muro de contención en la asociación Cerro El Ángel, Huaycán, y daña la vía. Los vecinos temen nuevos derrumbes. (América TV)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7132320" y="1600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 Nínive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6446520" y="2286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La Municipalidad de Ate restringe el tránsito vehicular y anuncia un estudio técnico para demoler y reconstruir el muro. (Panamericana)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¿Por qué fallan?</a:t>
            </a:r>
            <a:endParaRPr lang="en-US" sz="2000" dirty="0"/>
          </a:p>
        </p:txBody>
      </p:sp>
      <p:sp>
        <p:nvSpPr>
          <p:cNvPr id="14" name="lista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Muchos muros se construyen con faenas vecinales, sin diseño estructural ni drenaje.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Soportan viviendas y vías que no estaban previstas cuando se levantaron.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chemeClr val="tx2"/>
                </a:solidFill>
              </a:rPr>
              <a:t>En una habilitación formal, el muro es parte del proyecto aprobado y supervisado.</a:t>
            </a:r>
            <a:endParaRPr lang="en-US" sz="1600" dirty="0"/>
          </a:p>
        </p:txBody>
      </p:sp>
      <p:sp>
        <p:nvSpPr>
          <p:cNvPr id="15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América TV (2025), «Muro colapsa en Huaycán y genera temor entre vecinos»; Panamericana 24 Horas.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Noticia 3: incendios urbanos, enero de 2026</a:t>
            </a:r>
            <a:endParaRPr lang="en-US" sz="3200" dirty="0"/>
          </a:p>
        </p:txBody>
      </p:sp>
      <p:sp>
        <p:nvSpPr>
          <p:cNvPr id="3" name="linea-tiempo"/>
          <p:cNvSpPr/>
          <p:nvPr/>
        </p:nvSpPr>
        <p:spPr>
          <a:xfrm>
            <a:off x="731520" y="2194560"/>
            <a:ext cx="10698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hito"/>
          <p:cNvSpPr/>
          <p:nvPr/>
        </p:nvSpPr>
        <p:spPr>
          <a:xfrm>
            <a:off x="2359152" y="20391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hito-anio"/>
          <p:cNvSpPr txBox="1"/>
          <p:nvPr/>
        </p:nvSpPr>
        <p:spPr>
          <a:xfrm>
            <a:off x="77724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ene</a:t>
            </a:r>
            <a:endParaRPr lang="en-US" sz="2000" dirty="0"/>
          </a:p>
        </p:txBody>
      </p:sp>
      <p:sp>
        <p:nvSpPr>
          <p:cNvPr id="6" name="hito-texto"/>
          <p:cNvSpPr txBox="1"/>
          <p:nvPr/>
        </p:nvSpPr>
        <p:spPr>
          <a:xfrm>
            <a:off x="777240" y="2514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Zona X, Huaycán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Incendio daña una vivienda en la Av. 15 de Julio</a:t>
            </a:r>
            <a:endParaRPr lang="en-US" sz="1400" dirty="0"/>
          </a:p>
        </p:txBody>
      </p:sp>
      <p:sp>
        <p:nvSpPr>
          <p:cNvPr id="7" name="hito"/>
          <p:cNvSpPr/>
          <p:nvPr/>
        </p:nvSpPr>
        <p:spPr>
          <a:xfrm>
            <a:off x="5925312" y="20391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hito-anio"/>
          <p:cNvSpPr txBox="1"/>
          <p:nvPr/>
        </p:nvSpPr>
        <p:spPr>
          <a:xfrm>
            <a:off x="43434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ene</a:t>
            </a:r>
            <a:endParaRPr lang="en-US" sz="2000" dirty="0"/>
          </a:p>
        </p:txBody>
      </p:sp>
      <p:sp>
        <p:nvSpPr>
          <p:cNvPr id="9" name="hito-texto"/>
          <p:cNvSpPr txBox="1"/>
          <p:nvPr/>
        </p:nvSpPr>
        <p:spPr>
          <a:xfrm>
            <a:off x="4343400" y="2514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Monte Sinaí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Incendio urbano en Prialé, Santa Clara</a:t>
            </a:r>
            <a:endParaRPr lang="en-US" sz="1400" dirty="0"/>
          </a:p>
        </p:txBody>
      </p:sp>
      <p:sp>
        <p:nvSpPr>
          <p:cNvPr id="10" name="hito"/>
          <p:cNvSpPr/>
          <p:nvPr/>
        </p:nvSpPr>
        <p:spPr>
          <a:xfrm>
            <a:off x="9491472" y="20391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hito-anio"/>
          <p:cNvSpPr txBox="1"/>
          <p:nvPr/>
        </p:nvSpPr>
        <p:spPr>
          <a:xfrm>
            <a:off x="79095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ene</a:t>
            </a:r>
            <a:endParaRPr lang="en-US" sz="2000" dirty="0"/>
          </a:p>
        </p:txBody>
      </p:sp>
      <p:sp>
        <p:nvSpPr>
          <p:cNvPr id="12" name="hito-texto"/>
          <p:cNvSpPr txBox="1"/>
          <p:nvPr/>
        </p:nvSpPr>
        <p:spPr>
          <a:xfrm>
            <a:off x="7909560" y="2514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A.H. Micaela Bastidas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Incendio urbano en la etapa II del asentamiento</a:t>
            </a:r>
            <a:endParaRPr lang="en-US" sz="1400" dirty="0"/>
          </a:p>
        </p:txBody>
      </p:sp>
      <p:sp>
        <p:nvSpPr>
          <p:cNvPr id="13" name="leccion"/>
          <p:cNvSpPr/>
          <p:nvPr/>
        </p:nvSpPr>
        <p:spPr>
          <a:xfrm>
            <a:off x="548640" y="420624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34340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Relación con la habilitación urbana: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sin vías de ancho reglamentario ni hidrantes, los bomberos no llegan a tiempo. Las viviendas de madera y las conexiones eléctricas informales propagan el fuego entre lotes.</a:t>
            </a:r>
            <a:endParaRPr lang="en-US" sz="1600" dirty="0"/>
          </a:p>
        </p:txBody>
      </p:sp>
      <p:sp>
        <p:nvSpPr>
          <p:cNvPr id="15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INDECI–COEN, reportes complementarios N.° 223, 1053 y 1227 (enero 2026), distrito de 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en las laderas: lo que falta construir</a:t>
            </a:r>
            <a:endParaRPr lang="en-US" sz="3200" dirty="0"/>
          </a:p>
        </p:txBody>
      </p:sp>
      <p:graphicFrame>
        <p:nvGraphicFramePr>
          <p:cNvPr id="3" name="grafico-brecha" descr=""/>
          <p:cNvGraphicFramePr/>
          <p:nvPr/>
        </p:nvGraphicFramePr>
        <p:xfrm>
          <a:off x="548640" y="128016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-card"/>
          <p:cNvSpPr/>
          <p:nvPr/>
        </p:nvSpPr>
        <p:spPr>
          <a:xfrm>
            <a:off x="7680960" y="1371600"/>
            <a:ext cx="39319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tat-valor"/>
          <p:cNvSpPr txBox="1"/>
          <p:nvPr/>
        </p:nvSpPr>
        <p:spPr>
          <a:xfrm>
            <a:off x="7909560" y="1554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 246 M</a:t>
            </a:r>
            <a:endParaRPr lang="en-US" sz="4000" dirty="0"/>
          </a:p>
        </p:txBody>
      </p:sp>
      <p:sp>
        <p:nvSpPr>
          <p:cNvPr id="6" name="stat-texto"/>
          <p:cNvSpPr txBox="1"/>
          <p:nvPr/>
        </p:nvSpPr>
        <p:spPr>
          <a:xfrm>
            <a:off x="790956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costo estimado para completar la infraestructura de tres barrios de ladera, incluido Huaycán</a:t>
            </a:r>
            <a:endParaRPr lang="en-US" sz="1400" dirty="0"/>
          </a:p>
        </p:txBody>
      </p:sp>
      <p:sp>
        <p:nvSpPr>
          <p:cNvPr id="7" name="lista"/>
          <p:cNvSpPr txBox="1"/>
          <p:nvPr/>
        </p:nvSpPr>
        <p:spPr>
          <a:xfrm>
            <a:off x="7680960" y="36118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Solo el 25 % está construido.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La Ley 32425 (2025) obliga a priorizar muros y escaleras en la inversión 2026–2028.</a:t>
            </a:r>
            <a:endParaRPr lang="en-US" sz="1500" dirty="0"/>
          </a:p>
        </p:txBody>
      </p:sp>
      <p:sp>
        <p:nvSpPr>
          <p:cNvPr id="8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Estudio de tres barrios de ladera en Lima (repositorio CORE); Ley N.° 32425.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decide sobre el suelo en Ate?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Municipalidad de Ate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Licencias de habilitación y edificación, fiscalización, Grupo de Trabajo de GRD y PPRRD.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32816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Municipalidad de Lima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455676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Zonificación y planificación metropolitana (Plan Metropolitano de Desarrollo Urbano).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810768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54" y="17318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CENEPRED e INDECI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833628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Evaluaciones de riesgo (EVAR), asistencia técnica, simulacros y respuesta a emergencias.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54864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9" name="icono-circulo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21" name="tarjeta-titulo"/>
          <p:cNvSpPr txBox="1"/>
          <p:nvPr/>
        </p:nvSpPr>
        <p:spPr>
          <a:xfrm>
            <a:off x="146304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SEDAPAL y ANA</a:t>
            </a:r>
            <a:endParaRPr lang="en-US" sz="1700" dirty="0"/>
          </a:p>
        </p:txBody>
      </p:sp>
      <p:sp>
        <p:nvSpPr>
          <p:cNvPr id="22" name="tarjeta-texto"/>
          <p:cNvSpPr txBox="1"/>
          <p:nvPr/>
        </p:nvSpPr>
        <p:spPr>
          <a:xfrm>
            <a:off x="77724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Factibilidad de agua y desagüe; delimitación de la faja marginal del río Rímac.</a:t>
            </a:r>
            <a:endParaRPr lang="en-US" sz="1400" dirty="0"/>
          </a:p>
        </p:txBody>
      </p:sp>
      <p:sp>
        <p:nvSpPr>
          <p:cNvPr id="23" name="tarjeta"/>
          <p:cNvSpPr/>
          <p:nvPr/>
        </p:nvSpPr>
        <p:spPr>
          <a:xfrm>
            <a:off x="432816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4" name="icono-circulo"/>
          <p:cNvSpPr/>
          <p:nvPr/>
        </p:nvSpPr>
        <p:spPr>
          <a:xfrm>
            <a:off x="455676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34" y="4132174"/>
            <a:ext cx="285293" cy="285293"/>
          </a:xfrm>
          <a:prstGeom prst="rect">
            <a:avLst/>
          </a:prstGeom>
        </p:spPr>
      </p:pic>
      <p:sp>
        <p:nvSpPr>
          <p:cNvPr id="26" name="tarjeta-titulo"/>
          <p:cNvSpPr txBox="1"/>
          <p:nvPr/>
        </p:nvSpPr>
        <p:spPr>
          <a:xfrm>
            <a:off x="524256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COFOPRI y SUNARP</a:t>
            </a:r>
            <a:endParaRPr lang="en-US" sz="1700" dirty="0"/>
          </a:p>
        </p:txBody>
      </p:sp>
      <p:sp>
        <p:nvSpPr>
          <p:cNvPr id="27" name="tarjeta-texto"/>
          <p:cNvSpPr txBox="1"/>
          <p:nvPr/>
        </p:nvSpPr>
        <p:spPr>
          <a:xfrm>
            <a:off x="455676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Formalización y registro de lotes. No se titula en zonas de riesgo no mitigable.</a:t>
            </a:r>
            <a:endParaRPr lang="en-US" sz="1400" dirty="0"/>
          </a:p>
        </p:txBody>
      </p:sp>
      <p:sp>
        <p:nvSpPr>
          <p:cNvPr id="28" name="tarjeta"/>
          <p:cNvSpPr/>
          <p:nvPr/>
        </p:nvSpPr>
        <p:spPr>
          <a:xfrm>
            <a:off x="810768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9" name="icono-circulo"/>
          <p:cNvSpPr/>
          <p:nvPr/>
        </p:nvSpPr>
        <p:spPr>
          <a:xfrm>
            <a:off x="833628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954" y="4132174"/>
            <a:ext cx="285293" cy="285293"/>
          </a:xfrm>
          <a:prstGeom prst="rect">
            <a:avLst/>
          </a:prstGeom>
        </p:spPr>
      </p:pic>
      <p:sp>
        <p:nvSpPr>
          <p:cNvPr id="31" name="tarjeta-titulo"/>
          <p:cNvSpPr txBox="1"/>
          <p:nvPr/>
        </p:nvSpPr>
        <p:spPr>
          <a:xfrm>
            <a:off x="902208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Vecinos y juntas</a:t>
            </a:r>
            <a:endParaRPr lang="en-US" sz="1700" dirty="0"/>
          </a:p>
        </p:txBody>
      </p:sp>
      <p:sp>
        <p:nvSpPr>
          <p:cNvPr id="32" name="tarjeta-texto"/>
          <p:cNvSpPr txBox="1"/>
          <p:nvPr/>
        </p:nvSpPr>
        <p:spPr>
          <a:xfrm>
            <a:off x="833628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Respetar cauces y fajas, construir con licencia, organizar brigadas y participar en simulacros.</a:t>
            </a:r>
            <a:endParaRPr lang="en-US" sz="1400" dirty="0"/>
          </a:p>
        </p:txBody>
      </p:sp>
      <p:sp>
        <p:nvSpPr>
          <p:cNvPr id="3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Ley 29664 (SINAGERD), Ley 29090, Ley 30645, Ley Orgánica de Municipalidades.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del distrito: PPRRD de Ate 2025–2030</a:t>
            </a:r>
            <a:endParaRPr lang="en-US" sz="3200" dirty="0"/>
          </a:p>
        </p:txBody>
      </p:sp>
      <p:sp>
        <p:nvSpPr>
          <p:cNvPr id="3" name="icono-circulo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6148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El Plan de Prevención y Reducción del Riesgo de Desastres identifica medidas, programas y proyectos para reducir el riesgo existente y evitar crear riesgo nuevo.</a:t>
            </a:r>
            <a:endParaRPr lang="en-US" sz="1700" dirty="0"/>
          </a:p>
        </p:txBody>
      </p:sp>
      <p:sp>
        <p:nvSpPr>
          <p:cNvPr id="6" name="tarjeta"/>
          <p:cNvSpPr/>
          <p:nvPr/>
        </p:nvSpPr>
        <p:spPr>
          <a:xfrm>
            <a:off x="548640" y="2606040"/>
            <a:ext cx="35052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7" name="tarjeta-titulo"/>
          <p:cNvSpPr txBox="1"/>
          <p:nvPr/>
        </p:nvSpPr>
        <p:spPr>
          <a:xfrm>
            <a:off x="777240" y="283464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lo elabora</a:t>
            </a:r>
            <a:endParaRPr lang="en-US" sz="1700" dirty="0"/>
          </a:p>
        </p:txBody>
      </p:sp>
      <p:sp>
        <p:nvSpPr>
          <p:cNvPr id="8" name="tarjeta-texto"/>
          <p:cNvSpPr txBox="1"/>
          <p:nvPr/>
        </p:nvSpPr>
        <p:spPr>
          <a:xfrm>
            <a:off x="777240" y="3520440"/>
            <a:ext cx="304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El Grupo de Trabajo de GRD de la Municipalidad de Ate, con un equipo técnico de gerentes municipales (R.A. N.° 0462-2023-MDA).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4328160" y="2606040"/>
            <a:ext cx="35052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tarjeta-titulo"/>
          <p:cNvSpPr txBox="1"/>
          <p:nvPr/>
        </p:nvSpPr>
        <p:spPr>
          <a:xfrm>
            <a:off x="4556760" y="283464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legal</a:t>
            </a:r>
            <a:endParaRPr lang="en-US" sz="1700" dirty="0"/>
          </a:p>
        </p:txBody>
      </p:sp>
      <p:sp>
        <p:nvSpPr>
          <p:cNvPr id="11" name="tarjeta-texto"/>
          <p:cNvSpPr txBox="1"/>
          <p:nvPr/>
        </p:nvSpPr>
        <p:spPr>
          <a:xfrm>
            <a:off x="4556760" y="3520440"/>
            <a:ext cx="304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Artículo 39 del Reglamento de la Ley 29664 y la guía metodológica de CENEPRED.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8107680" y="2606040"/>
            <a:ext cx="350520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3" name="tarjeta-titulo"/>
          <p:cNvSpPr txBox="1"/>
          <p:nvPr/>
        </p:nvSpPr>
        <p:spPr>
          <a:xfrm>
            <a:off x="8336280" y="283464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conecta con la habilitación</a:t>
            </a:r>
            <a:endParaRPr lang="en-US" sz="1700" dirty="0"/>
          </a:p>
        </p:txBody>
      </p:sp>
      <p:sp>
        <p:nvSpPr>
          <p:cNvPr id="14" name="tarjeta-texto"/>
          <p:cNvSpPr txBox="1"/>
          <p:nvPr/>
        </p:nvSpPr>
        <p:spPr>
          <a:xfrm>
            <a:off x="8336280" y="3520440"/>
            <a:ext cx="304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Sus mapas de riesgo deben usarse para aprobar o rechazar habilitaciones y licencias en el distrito.</a:t>
            </a:r>
            <a:endParaRPr lang="en-US" sz="1500" dirty="0"/>
          </a:p>
        </p:txBody>
      </p:sp>
      <p:sp>
        <p:nvSpPr>
          <p:cNvPr id="15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Municipalidad Distrital de Ate, PPRRD 2025–2030, publicado en SIGRID-CENEPRED; Reglamento de la Ley N.° 29664.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Propuestas para habilitar Ate con menos riesgo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4" name="icono-ci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6" name="tarjeta-titulo"/>
          <p:cNvSpPr txBox="1"/>
          <p:nvPr/>
        </p:nvSpPr>
        <p:spPr>
          <a:xfrm>
            <a:off x="146304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ocupar</a:t>
            </a:r>
            <a:endParaRPr lang="en-US" sz="1700" dirty="0"/>
          </a:p>
        </p:txBody>
      </p:sp>
      <p:sp>
        <p:nvSpPr>
          <p:cNvPr id="7" name="tarjeta-texto"/>
          <p:cNvSpPr txBox="1"/>
          <p:nvPr/>
        </p:nvSpPr>
        <p:spPr>
          <a:xfrm>
            <a:off x="77724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Cauces de quebradas y faja marginal del Rímac. Control activo contra traficantes de terrenos.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32816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9" name="icono-circulo"/>
          <p:cNvSpPr/>
          <p:nvPr/>
        </p:nvSpPr>
        <p:spPr>
          <a:xfrm>
            <a:off x="455676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434" y="1731874"/>
            <a:ext cx="285293" cy="285293"/>
          </a:xfrm>
          <a:prstGeom prst="rect">
            <a:avLst/>
          </a:prstGeom>
        </p:spPr>
      </p:pic>
      <p:sp>
        <p:nvSpPr>
          <p:cNvPr id="11" name="tarjeta-titulo"/>
          <p:cNvSpPr txBox="1"/>
          <p:nvPr/>
        </p:nvSpPr>
        <p:spPr>
          <a:xfrm>
            <a:off x="524256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EVAR obligatoria</a:t>
            </a:r>
            <a:endParaRPr lang="en-US" sz="1700" dirty="0"/>
          </a:p>
        </p:txBody>
      </p:sp>
      <p:sp>
        <p:nvSpPr>
          <p:cNvPr id="12" name="tarjeta-texto"/>
          <p:cNvSpPr txBox="1"/>
          <p:nvPr/>
        </p:nvSpPr>
        <p:spPr>
          <a:xfrm>
            <a:off x="455676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Toda habilitación en ladera o quebrada debe contar con evaluación de riesgo aprobada.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8107680" y="13716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4" name="icono-circulo"/>
          <p:cNvSpPr/>
          <p:nvPr/>
        </p:nvSpPr>
        <p:spPr>
          <a:xfrm>
            <a:off x="83362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954" y="1731874"/>
            <a:ext cx="285293" cy="285293"/>
          </a:xfrm>
          <a:prstGeom prst="rect">
            <a:avLst/>
          </a:prstGeom>
        </p:spPr>
      </p:pic>
      <p:sp>
        <p:nvSpPr>
          <p:cNvPr id="16" name="tarjeta-titulo"/>
          <p:cNvSpPr txBox="1"/>
          <p:nvPr/>
        </p:nvSpPr>
        <p:spPr>
          <a:xfrm>
            <a:off x="9022080" y="16002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con ingeniería</a:t>
            </a:r>
            <a:endParaRPr lang="en-US" sz="1700" dirty="0"/>
          </a:p>
        </p:txBody>
      </p:sp>
      <p:sp>
        <p:nvSpPr>
          <p:cNvPr id="17" name="tarjeta-texto"/>
          <p:cNvSpPr txBox="1"/>
          <p:nvPr/>
        </p:nvSpPr>
        <p:spPr>
          <a:xfrm>
            <a:off x="8336280" y="22860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Muros, escaleras y drenaje pluvial diseñados y supervisados, priorizados por la Ley 32425.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54864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19" name="icono-circulo"/>
          <p:cNvSpPr/>
          <p:nvPr/>
        </p:nvSpPr>
        <p:spPr>
          <a:xfrm>
            <a:off x="77724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32174"/>
            <a:ext cx="285293" cy="285293"/>
          </a:xfrm>
          <a:prstGeom prst="rect">
            <a:avLst/>
          </a:prstGeom>
        </p:spPr>
      </p:pic>
      <p:sp>
        <p:nvSpPr>
          <p:cNvPr id="21" name="tarjeta-titulo"/>
          <p:cNvSpPr txBox="1"/>
          <p:nvPr/>
        </p:nvSpPr>
        <p:spPr>
          <a:xfrm>
            <a:off x="146304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Reforzar viviendas</a:t>
            </a:r>
            <a:endParaRPr lang="en-US" sz="1700" dirty="0"/>
          </a:p>
        </p:txBody>
      </p:sp>
      <p:sp>
        <p:nvSpPr>
          <p:cNvPr id="22" name="tarjeta-texto"/>
          <p:cNvSpPr txBox="1"/>
          <p:nvPr/>
        </p:nvSpPr>
        <p:spPr>
          <a:xfrm>
            <a:off x="77724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Programas de reforzamiento y asistencia técnica para la autoconstrucción existente.</a:t>
            </a:r>
            <a:endParaRPr lang="en-US" sz="1400" dirty="0"/>
          </a:p>
        </p:txBody>
      </p:sp>
      <p:sp>
        <p:nvSpPr>
          <p:cNvPr id="23" name="tarjeta"/>
          <p:cNvSpPr/>
          <p:nvPr/>
        </p:nvSpPr>
        <p:spPr>
          <a:xfrm>
            <a:off x="432816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4" name="icono-circulo"/>
          <p:cNvSpPr/>
          <p:nvPr/>
        </p:nvSpPr>
        <p:spPr>
          <a:xfrm>
            <a:off x="455676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434" y="4132174"/>
            <a:ext cx="285293" cy="285293"/>
          </a:xfrm>
          <a:prstGeom prst="rect">
            <a:avLst/>
          </a:prstGeom>
        </p:spPr>
      </p:pic>
      <p:sp>
        <p:nvSpPr>
          <p:cNvPr id="26" name="tarjeta-titulo"/>
          <p:cNvSpPr txBox="1"/>
          <p:nvPr/>
        </p:nvSpPr>
        <p:spPr>
          <a:xfrm>
            <a:off x="524256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temprana</a:t>
            </a:r>
            <a:endParaRPr lang="en-US" sz="1700" dirty="0"/>
          </a:p>
        </p:txBody>
      </p:sp>
      <p:sp>
        <p:nvSpPr>
          <p:cNvPr id="27" name="tarjeta-texto"/>
          <p:cNvSpPr txBox="1"/>
          <p:nvPr/>
        </p:nvSpPr>
        <p:spPr>
          <a:xfrm>
            <a:off x="455676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Monitoreo de lluvias y quebradas, con sirenas y rutas de evacuación señalizadas.</a:t>
            </a:r>
            <a:endParaRPr lang="en-US" sz="1400" dirty="0"/>
          </a:p>
        </p:txBody>
      </p:sp>
      <p:sp>
        <p:nvSpPr>
          <p:cNvPr id="28" name="tarjeta"/>
          <p:cNvSpPr/>
          <p:nvPr/>
        </p:nvSpPr>
        <p:spPr>
          <a:xfrm>
            <a:off x="8107680" y="3771900"/>
            <a:ext cx="3505200" cy="2125980"/>
          </a:xfrm>
          <a:prstGeom prst="roundRect">
            <a:avLst>
              <a:gd name="adj" fmla="val 4301"/>
            </a:avLst>
          </a:prstGeom>
          <a:solidFill>
            <a:schemeClr val="bg2"/>
          </a:solidFill>
          <a:ln/>
        </p:spPr>
      </p:sp>
      <p:sp>
        <p:nvSpPr>
          <p:cNvPr id="29" name="icono-circulo"/>
          <p:cNvSpPr/>
          <p:nvPr/>
        </p:nvSpPr>
        <p:spPr>
          <a:xfrm>
            <a:off x="8336280" y="40005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954" y="4132174"/>
            <a:ext cx="285293" cy="285293"/>
          </a:xfrm>
          <a:prstGeom prst="rect">
            <a:avLst/>
          </a:prstGeom>
        </p:spPr>
      </p:pic>
      <p:sp>
        <p:nvSpPr>
          <p:cNvPr id="31" name="tarjeta-titulo"/>
          <p:cNvSpPr txBox="1"/>
          <p:nvPr/>
        </p:nvSpPr>
        <p:spPr>
          <a:xfrm>
            <a:off x="9022080" y="400050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Reasentar</a:t>
            </a:r>
            <a:endParaRPr lang="en-US" sz="1700" dirty="0"/>
          </a:p>
        </p:txBody>
      </p:sp>
      <p:sp>
        <p:nvSpPr>
          <p:cNvPr id="32" name="tarjeta-texto"/>
          <p:cNvSpPr txBox="1"/>
          <p:nvPr/>
        </p:nvSpPr>
        <p:spPr>
          <a:xfrm>
            <a:off x="8336280" y="4686300"/>
            <a:ext cx="3048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Familias en zonas de riesgo no mitigable, según la Ley 29869.</a:t>
            </a:r>
            <a:endParaRPr lang="en-US" sz="1400" dirty="0"/>
          </a:p>
        </p:txBody>
      </p:sp>
      <p:sp>
        <p:nvSpPr>
          <p:cNvPr id="33" name="fuente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Fuente: Leyes 29869, 30645 y 32425; CENEPRED; PPRRD de Ate 2025–2030.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sobre Ate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35052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</p:sp>
      <p:sp>
        <p:nvSpPr>
          <p:cNvPr id="4" name="tarjeta-titulo"/>
          <p:cNvSpPr txBox="1"/>
          <p:nvPr/>
        </p:nvSpPr>
        <p:spPr>
          <a:xfrm>
            <a:off x="777240" y="160020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sin habilitación</a:t>
            </a:r>
            <a:endParaRPr lang="en-US" sz="1700" dirty="0"/>
          </a:p>
        </p:txBody>
      </p:sp>
      <p:sp>
        <p:nvSpPr>
          <p:cNvPr id="5" name="tarjeta-texto"/>
          <p:cNvSpPr txBox="1"/>
          <p:nvPr/>
        </p:nvSpPr>
        <p:spPr>
          <a:xfrm>
            <a:off x="777240" y="228600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Ate sumó unos 190 mil habitantes desde 2007, gran parte en laderas sin obras previas.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4328160" y="1371600"/>
            <a:ext cx="35052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</p:sp>
      <p:sp>
        <p:nvSpPr>
          <p:cNvPr id="7" name="tarjeta-titulo"/>
          <p:cNvSpPr txBox="1"/>
          <p:nvPr/>
        </p:nvSpPr>
        <p:spPr>
          <a:xfrm>
            <a:off x="4556760" y="160020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concentrado</a:t>
            </a:r>
            <a:endParaRPr lang="en-US" sz="1700" dirty="0"/>
          </a:p>
        </p:txBody>
      </p:sp>
      <p:sp>
        <p:nvSpPr>
          <p:cNvPr id="8" name="tarjeta-texto"/>
          <p:cNvSpPr txBox="1"/>
          <p:nvPr/>
        </p:nvSpPr>
        <p:spPr>
          <a:xfrm>
            <a:off x="4556760" y="228600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Más de 361 mil personas en riesgo muy alto ante sismo. Huaycán concentra huaicos y muros colapsados.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8107680" y="1371600"/>
            <a:ext cx="35052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/>
        </p:spPr>
      </p:sp>
      <p:sp>
        <p:nvSpPr>
          <p:cNvPr id="10" name="tarjeta-titulo"/>
          <p:cNvSpPr txBox="1"/>
          <p:nvPr/>
        </p:nvSpPr>
        <p:spPr>
          <a:xfrm>
            <a:off x="8336280" y="1600200"/>
            <a:ext cx="3093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existentes</a:t>
            </a:r>
            <a:endParaRPr lang="en-US" sz="1700" dirty="0"/>
          </a:p>
        </p:txBody>
      </p:sp>
      <p:sp>
        <p:nvSpPr>
          <p:cNvPr id="11" name="tarjeta-texto"/>
          <p:cNvSpPr txBox="1"/>
          <p:nvPr/>
        </p:nvSpPr>
        <p:spPr>
          <a:xfrm>
            <a:off x="8336280" y="2286000"/>
            <a:ext cx="304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PPRRD 2025–2030, EVAR de CENEPRED y Ley 32425. El reto es aplicarlas antes del próximo evento.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Para investigar: elige una manzana de Huaycán en Google Maps e identifica su peligro, su vulnerabilidad y una medida concreta.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</a:t>
            </a:r>
            <a:endParaRPr lang="en-US" sz="32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INEI: Censos Nacionales 2007, 2017 y 2025.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Defensoría del Pueblo (2023). Informe Defensorial N.° 006-2023-DP-AAE.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CENEPRED – SIGRID (2024). Informes de evaluación de riesgo por flujo de detritos, ámbitos 1 a 6, Huaycán, 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Municipalidad Distrital de Ate. Plan de Prevención y Reducción del Riesgo de Desastres 2025–2030.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INDECI – COEN: balance de lluvias (mayo 2023); reportes de incendio urbano en Ate (enero 2026).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Prensa: El Popular y Canal N (2023), América TV y Panamericana (2025), Infobae (dic. 2025).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chemeClr val="tx2"/>
                </a:solidFill>
              </a:rPr>
              <a:t>Leyes 29090, 29664, 29869, 30645 y 32425. Estudio de barrios de ladera de Lima (repositorio CORE).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ual C2">
  <a:themeElements>
    <a:clrScheme name="Visual C2">
      <a:dk1>
        <a:srgbClr val="141414"/>
      </a:dk1>
      <a:lt1>
        <a:srgbClr val="FFFFFF"/>
      </a:lt1>
      <a:dk2>
        <a:srgbClr val="4A4A4A"/>
      </a:dk2>
      <a:lt2>
        <a:srgbClr val="F3F3F3"/>
      </a:lt2>
      <a:accent1>
        <a:srgbClr val="F26B1D"/>
      </a:accent1>
      <a:accent2>
        <a:srgbClr val="FFB27A"/>
      </a:accent2>
      <a:accent3>
        <a:srgbClr val="7A7A7A"/>
      </a:accent3>
      <a:accent4>
        <a:srgbClr val="B34700"/>
      </a:accent4>
      <a:accent5>
        <a:srgbClr val="262626"/>
      </a:accent5>
      <a:accent6>
        <a:srgbClr val="C8C8C8"/>
      </a:accent6>
      <a:hlink>
        <a:srgbClr val="F26B1D"/>
      </a:hlink>
      <a:folHlink>
        <a:srgbClr val="B34700"/>
      </a:folHlink>
    </a:clrScheme>
    <a:fontScheme name="Visual C2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Habilitación urbana y GRD en el distrito de Ate</dc:title>
  <dc:subject>PptxGenJS Presentation</dc:subject>
  <dc:creator>Carlos Sánchez</dc:creator>
  <cp:lastModifiedBy>Carlos Sánchez</cp:lastModifiedBy>
  <cp:revision>1</cp:revision>
  <dcterms:created xsi:type="dcterms:W3CDTF">2026-10-28T16:52:31Z</dcterms:created>
  <dcterms:modified xsi:type="dcterms:W3CDTF">2026-10-28T16:52:31Z</dcterms:modified>
</cp:coreProperties>
</file>