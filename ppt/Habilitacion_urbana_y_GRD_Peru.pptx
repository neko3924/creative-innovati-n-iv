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d4416966-7572-8631-7532-75cd32fabf80}">
          <p14:sldIdLst>
            <p14:sldId id="256"/>
            <p14:sldId id="257"/>
          </p14:sldIdLst>
        </p14:section>
        <p14:section name="Conceptos y normas" id="{dcc43c79-32a5-0060-c36f-b04a80c1932b}">
          <p14:sldIdLst>
            <p14:sldId id="258"/>
            <p14:sldId id="259"/>
            <p14:sldId id="260"/>
            <p14:sldId id="261"/>
            <p14:sldId id="262"/>
          </p14:sldIdLst>
        </p14:section>
        <p14:section name="Datos del Perú" id="{5ad450dc-ecf4-8a1f-e8fb-a07e7f8f5895}">
          <p14:sldIdLst>
            <p14:sldId id="263"/>
            <p14:sldId id="264"/>
            <p14:sldId id="265"/>
            <p14:sldId id="266"/>
            <p14:sldId id="267"/>
          </p14:sldIdLst>
        </p14:section>
        <p14:section name="Actualidad y gestión" id="{9cef9b3c-8363-3411-5eb7-3adaab8df978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414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41414"/>
                </a:solidFill>
                <a:latin typeface="+mj-lt"/>
              </a:rPr>
              <a:t>Impacto en el Perú (INDECI, agosto 2017)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Impacto en el Perú (INDECI, agosto 2017)</c:v>
                </c:pt>
              </c:strCache>
            </c:strRef>
          </c:tx>
          <c:spPr>
            <a:solidFill>
              <a:srgbClr val="F26B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Afectados</c:v>
                  </c:pt>
                  <c:pt idx="1">
                    <c:v>Damnificados</c:v>
                  </c:pt>
                  <c:pt idx="2">
                    <c:v>Viviendas destruidas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1559487</c:v>
                </c:pt>
                <c:pt idx="1">
                  <c:v>285955</c:v>
                </c:pt>
                <c:pt idx="2">
                  <c:v>66093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414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41414"/>
                </a:solidFill>
                <a:latin typeface="+mj-lt"/>
              </a:rPr>
              <a:t>Viviendas (escenario del simulacro 2023)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Viviendas (escenario del simulacro 2023)</c:v>
                </c:pt>
              </c:strCache>
            </c:strRef>
          </c:tx>
          <c:spPr>
            <a:solidFill>
              <a:srgbClr val="F26B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Afectadas</c:v>
                  </c:pt>
                  <c:pt idx="1">
                    <c:v>Inhabitables</c:v>
                  </c:pt>
                  <c:pt idx="2">
                    <c:v>Destruidas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962674</c:v>
                </c:pt>
                <c:pt idx="1">
                  <c:v>623882</c:v>
                </c:pt>
                <c:pt idx="2">
                  <c:v>353495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tema: la habilitación urbana es el momento en que un terreno rústico se vuelve urbano. Si se hace sin evaluar el riesgo, el desastre queda 'construido' desde el inicio.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cifras resumen el problema: crecimiento informal, construcción sin supervisión y millones de personas expuestas. Preguntar a los alumnos si conocen una zona así en su barrio.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Recalcar el orden correcto: primero se habilita (obras y servicios), luego se edifica. En la ciudad informal el orden se invierte.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ley existe desde hace casi 20 años. El problema no es la falta de normas sino su cumplimiento y fiscalización.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modalidades van de menor a mayor control. A mayor complejidad o riesgo del terreno, más revisión técnica previa.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habilitación urbana pertenece a la gestión prospectiva: evitar crear riesgo nuevo. Los municipios son el eslabón clave porque aprueban o no la ocupación del suelo.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peligro casi no se puede controlar (no evitamos un sismo), pero la vulnerabilidad sí. La habilitación urbana actúa sobre la exposición: dónde se permite vivir.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Peligros múltiples sobre un mismo territorio. La habilitación urbana debe evaluarlos todos, no solo el sismo.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el orden de los pasos. En la ciudad informal, el riesgo ya está construido cuando llega la autoridad.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cifras de fallecidos varían entre 519 y 596 según la fuente. Usamos la de INDECI.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emblemática: la mujer que sale del lodo en Punta Hermosa (Evangelina Chamorro). El cauce de las quebradas estaba urbanizado.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 escenario, no un pronóstico. Las cifras cambian según el ejercicio (60 mil fallecidos en el simulacro 2024). Lo importante: la mayor parte del daño proviene de viviendas vulnerables.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sugerida: cada grupo busca una noticia de la última semana en el portal de emergencias del COEN-INDECI y la analiza con la fórmula peligro × vulnerabilidad.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conecta el tema con decisiones personales: el riesgo también se compra.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debate. Dividir la clase en dos posturas: derecho a servicios vs. no consolidar el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cifras de desastres varían según la fecha del reporte. Se priorizaron fuentes oficiales.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Habilitación urbana y gestión del riesgo de desastres · Perú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Habilitación urbana y gestión del riesgo de desastres · Perú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Habilitación urbana y gestión del riesgo de desastres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Cómo se convierte un terreno en ciudad en el Perú y por qué ahí se decide si será segura</a:t>
            </a:r>
            <a:endParaRPr lang="en-US" sz="2000" dirty="0"/>
          </a:p>
        </p:txBody>
      </p:sp>
      <p:sp>
        <p:nvSpPr>
          <p:cNvPr id="4" name="icono-circulo"/>
          <p:cNvSpPr/>
          <p:nvPr/>
        </p:nvSpPr>
        <p:spPr>
          <a:xfrm>
            <a:off x="731520" y="731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950976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en tres cifras</a:t>
            </a:r>
            <a:endParaRPr lang="en-US" sz="3200" dirty="0"/>
          </a:p>
        </p:txBody>
      </p:sp>
      <p:sp>
        <p:nvSpPr>
          <p:cNvPr id="3" name="stat-card"/>
          <p:cNvSpPr/>
          <p:nvPr/>
        </p:nvSpPr>
        <p:spPr>
          <a:xfrm>
            <a:off x="548640" y="146304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stat-valor"/>
          <p:cNvSpPr txBox="1"/>
          <p:nvPr/>
        </p:nvSpPr>
        <p:spPr>
          <a:xfrm>
            <a:off x="777240" y="16459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4000" dirty="0"/>
          </a:p>
        </p:txBody>
      </p:sp>
      <p:sp>
        <p:nvSpPr>
          <p:cNvPr id="5" name="stat-texto"/>
          <p:cNvSpPr txBox="1"/>
          <p:nvPr/>
        </p:nvSpPr>
        <p:spPr>
          <a:xfrm>
            <a:off x="777240" y="2880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la expansión urbana del Perú entre 2001 y 2018 fue informal</a:t>
            </a:r>
            <a:endParaRPr lang="en-US" sz="1400" dirty="0"/>
          </a:p>
        </p:txBody>
      </p:sp>
      <p:sp>
        <p:nvSpPr>
          <p:cNvPr id="6" name="stat-card"/>
          <p:cNvSpPr/>
          <p:nvPr/>
        </p:nvSpPr>
        <p:spPr>
          <a:xfrm>
            <a:off x="4325112" y="146304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7" name="stat-valor"/>
          <p:cNvSpPr txBox="1"/>
          <p:nvPr/>
        </p:nvSpPr>
        <p:spPr>
          <a:xfrm>
            <a:off x="4553712" y="16459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68.5%</a:t>
            </a:r>
            <a:endParaRPr lang="en-US" sz="4000" dirty="0"/>
          </a:p>
        </p:txBody>
      </p:sp>
      <p:sp>
        <p:nvSpPr>
          <p:cNvPr id="8" name="stat-texto"/>
          <p:cNvSpPr txBox="1"/>
          <p:nvPr/>
        </p:nvSpPr>
        <p:spPr>
          <a:xfrm>
            <a:off x="4553712" y="2880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las viviendas construidas en Lima Metropolitana (2007–2014) fueron informales</a:t>
            </a:r>
            <a:endParaRPr lang="en-US" sz="1400" dirty="0"/>
          </a:p>
        </p:txBody>
      </p:sp>
      <p:sp>
        <p:nvSpPr>
          <p:cNvPr id="9" name="stat-card"/>
          <p:cNvSpPr/>
          <p:nvPr/>
        </p:nvSpPr>
        <p:spPr>
          <a:xfrm>
            <a:off x="8092440" y="146304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0" name="stat-valor"/>
          <p:cNvSpPr txBox="1"/>
          <p:nvPr/>
        </p:nvSpPr>
        <p:spPr>
          <a:xfrm>
            <a:off x="8321040" y="16459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 M</a:t>
            </a:r>
            <a:endParaRPr lang="en-US" sz="4000" dirty="0"/>
          </a:p>
        </p:txBody>
      </p:sp>
      <p:sp>
        <p:nvSpPr>
          <p:cNvPr id="11" name="stat-texto"/>
          <p:cNvSpPr txBox="1"/>
          <p:nvPr/>
        </p:nvSpPr>
        <p:spPr>
          <a:xfrm>
            <a:off x="8321040" y="2880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personas en riesgo muy alto ante movimientos en masa (deslizamientos, huaicos)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La mayoría de las ciudades peruanas crece primero ocupando y después pidiendo servicios. El riesgo se instala antes que la norma.</a:t>
            </a:r>
            <a:endParaRPr lang="en-US" sz="1800" dirty="0"/>
          </a:p>
        </p:txBody>
      </p:sp>
      <p:sp>
        <p:nvSpPr>
          <p:cNvPr id="13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GRADE – Espinoza y Fort (2020), Mapeo y tipología de la expansión urbana en el Perú; CAPECO; CENEPRED, Plan Multisectorial 2026–2028.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una habilitación urbana?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Es el proceso legal y técnico para convertir un terreno rústico o eriazo en suelo urbano, ejecutando obras básicas antes de construir viviendas (Ley N.° 29090).</a:t>
            </a:r>
            <a:endParaRPr lang="en-US" sz="1700" dirty="0"/>
          </a:p>
        </p:txBody>
      </p:sp>
      <p:sp>
        <p:nvSpPr>
          <p:cNvPr id="4" name="tarjeta"/>
          <p:cNvSpPr/>
          <p:nvPr/>
        </p:nvSpPr>
        <p:spPr>
          <a:xfrm>
            <a:off x="548640" y="228600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5" name="icono-circulo"/>
          <p:cNvSpPr/>
          <p:nvPr/>
        </p:nvSpPr>
        <p:spPr>
          <a:xfrm>
            <a:off x="77724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646274"/>
            <a:ext cx="285293" cy="285293"/>
          </a:xfrm>
          <a:prstGeom prst="rect">
            <a:avLst/>
          </a:prstGeom>
        </p:spPr>
      </p:pic>
      <p:sp>
        <p:nvSpPr>
          <p:cNvPr id="7" name="tarjeta-titulo"/>
          <p:cNvSpPr txBox="1"/>
          <p:nvPr/>
        </p:nvSpPr>
        <p:spPr>
          <a:xfrm>
            <a:off x="146304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Accesibilidad</a:t>
            </a:r>
            <a:endParaRPr lang="en-US" sz="1700" dirty="0"/>
          </a:p>
        </p:txBody>
      </p:sp>
      <p:sp>
        <p:nvSpPr>
          <p:cNvPr id="8" name="tarjeta-texto"/>
          <p:cNvSpPr txBox="1"/>
          <p:nvPr/>
        </p:nvSpPr>
        <p:spPr>
          <a:xfrm>
            <a:off x="777240" y="32004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Vías, veredas y pistas que conectan los lotes con la ciudad y permiten el ingreso de ambulancias y bomberos.</a:t>
            </a:r>
            <a:endParaRPr lang="en-US" sz="1400" dirty="0"/>
          </a:p>
        </p:txBody>
      </p:sp>
      <p:sp>
        <p:nvSpPr>
          <p:cNvPr id="9" name="tarjeta"/>
          <p:cNvSpPr/>
          <p:nvPr/>
        </p:nvSpPr>
        <p:spPr>
          <a:xfrm>
            <a:off x="3383280" y="228600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0" name="icono-circulo"/>
          <p:cNvSpPr/>
          <p:nvPr/>
        </p:nvSpPr>
        <p:spPr>
          <a:xfrm>
            <a:off x="361188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554" y="2646274"/>
            <a:ext cx="285293" cy="285293"/>
          </a:xfrm>
          <a:prstGeom prst="rect">
            <a:avLst/>
          </a:prstGeom>
        </p:spPr>
      </p:pic>
      <p:sp>
        <p:nvSpPr>
          <p:cNvPr id="12" name="tarjeta-titulo"/>
          <p:cNvSpPr txBox="1"/>
          <p:nvPr/>
        </p:nvSpPr>
        <p:spPr>
          <a:xfrm>
            <a:off x="429768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 y desagüe</a:t>
            </a:r>
            <a:endParaRPr lang="en-US" sz="1700" dirty="0"/>
          </a:p>
        </p:txBody>
      </p:sp>
      <p:sp>
        <p:nvSpPr>
          <p:cNvPr id="13" name="tarjeta-texto"/>
          <p:cNvSpPr txBox="1"/>
          <p:nvPr/>
        </p:nvSpPr>
        <p:spPr>
          <a:xfrm>
            <a:off x="3611880" y="32004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Redes de distribución de agua y recolección de desagüe, con factibilidad de la empresa prestadora.</a:t>
            </a:r>
            <a:endParaRPr lang="en-US" sz="1400" dirty="0"/>
          </a:p>
        </p:txBody>
      </p:sp>
      <p:sp>
        <p:nvSpPr>
          <p:cNvPr id="14" name="tarjeta"/>
          <p:cNvSpPr/>
          <p:nvPr/>
        </p:nvSpPr>
        <p:spPr>
          <a:xfrm>
            <a:off x="6217920" y="228600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5" name="icono-circulo"/>
          <p:cNvSpPr/>
          <p:nvPr/>
        </p:nvSpPr>
        <p:spPr>
          <a:xfrm>
            <a:off x="644652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194" y="2646274"/>
            <a:ext cx="285293" cy="285293"/>
          </a:xfrm>
          <a:prstGeom prst="rect">
            <a:avLst/>
          </a:prstGeom>
        </p:spPr>
      </p:pic>
      <p:sp>
        <p:nvSpPr>
          <p:cNvPr id="17" name="tarjeta-titulo"/>
          <p:cNvSpPr txBox="1"/>
          <p:nvPr/>
        </p:nvSpPr>
        <p:spPr>
          <a:xfrm>
            <a:off x="713232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</a:t>
            </a:r>
            <a:endParaRPr lang="en-US" sz="1700" dirty="0"/>
          </a:p>
        </p:txBody>
      </p:sp>
      <p:sp>
        <p:nvSpPr>
          <p:cNvPr id="18" name="tarjeta-texto"/>
          <p:cNvSpPr txBox="1"/>
          <p:nvPr/>
        </p:nvSpPr>
        <p:spPr>
          <a:xfrm>
            <a:off x="6446520" y="32004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Distribución eléctrica e iluminación pública.</a:t>
            </a:r>
            <a:endParaRPr lang="en-US" sz="1400" dirty="0"/>
          </a:p>
        </p:txBody>
      </p:sp>
      <p:sp>
        <p:nvSpPr>
          <p:cNvPr id="19" name="tarjeta"/>
          <p:cNvSpPr/>
          <p:nvPr/>
        </p:nvSpPr>
        <p:spPr>
          <a:xfrm>
            <a:off x="9052560" y="228600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20" name="icono-circulo"/>
          <p:cNvSpPr/>
          <p:nvPr/>
        </p:nvSpPr>
        <p:spPr>
          <a:xfrm>
            <a:off x="928116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834" y="2646274"/>
            <a:ext cx="285293" cy="285293"/>
          </a:xfrm>
          <a:prstGeom prst="rect">
            <a:avLst/>
          </a:prstGeom>
        </p:spPr>
      </p:pic>
      <p:sp>
        <p:nvSpPr>
          <p:cNvPr id="22" name="tarjeta-titulo"/>
          <p:cNvSpPr txBox="1"/>
          <p:nvPr/>
        </p:nvSpPr>
        <p:spPr>
          <a:xfrm>
            <a:off x="996696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Aportes</a:t>
            </a:r>
            <a:endParaRPr lang="en-US" sz="1700" dirty="0"/>
          </a:p>
        </p:txBody>
      </p:sp>
      <p:sp>
        <p:nvSpPr>
          <p:cNvPr id="23" name="tarjeta-texto"/>
          <p:cNvSpPr txBox="1"/>
          <p:nvPr/>
        </p:nvSpPr>
        <p:spPr>
          <a:xfrm>
            <a:off x="9281160" y="32004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Áreas cedidas para recreación pública, educación y otros fines: parques, colegios, postas.</a:t>
            </a:r>
            <a:endParaRPr lang="en-US" sz="1400" dirty="0"/>
          </a:p>
        </p:txBody>
      </p:sp>
      <p:sp>
        <p:nvSpPr>
          <p:cNvPr id="24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TUO de la Ley N.° 29090, Ley de Regulación de Habilitaciones Urbanas y de Edificaciones (D.S. 006-2017-VIVIENDA).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normativo peruano</a:t>
            </a:r>
            <a:endParaRPr lang="en-US" sz="3200" dirty="0"/>
          </a:p>
        </p:txBody>
      </p:sp>
      <p:sp>
        <p:nvSpPr>
          <p:cNvPr id="3" name="linea-tiempo"/>
          <p:cNvSpPr/>
          <p:nvPr/>
        </p:nvSpPr>
        <p:spPr>
          <a:xfrm>
            <a:off x="731520" y="2377440"/>
            <a:ext cx="106984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hito"/>
          <p:cNvSpPr/>
          <p:nvPr/>
        </p:nvSpPr>
        <p:spPr>
          <a:xfrm>
            <a:off x="1340249" y="22219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hito-anio"/>
          <p:cNvSpPr txBox="1"/>
          <p:nvPr/>
        </p:nvSpPr>
        <p:spPr>
          <a:xfrm>
            <a:off x="777240" y="1600200"/>
            <a:ext cx="1436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</a:t>
            </a:r>
            <a:endParaRPr lang="en-US" sz="2000" dirty="0"/>
          </a:p>
        </p:txBody>
      </p:sp>
      <p:sp>
        <p:nvSpPr>
          <p:cNvPr id="6" name="hito-texto"/>
          <p:cNvSpPr txBox="1"/>
          <p:nvPr/>
        </p:nvSpPr>
        <p:spPr>
          <a:xfrm>
            <a:off x="777240" y="2697480"/>
            <a:ext cx="143691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Ley 29090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Regula habilitaciones urbanas y licencias de edificación</a:t>
            </a:r>
            <a:endParaRPr lang="en-US" sz="1400" dirty="0"/>
          </a:p>
        </p:txBody>
      </p:sp>
      <p:sp>
        <p:nvSpPr>
          <p:cNvPr id="7" name="hito"/>
          <p:cNvSpPr/>
          <p:nvPr/>
        </p:nvSpPr>
        <p:spPr>
          <a:xfrm>
            <a:off x="2868603" y="22219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hito-anio"/>
          <p:cNvSpPr txBox="1"/>
          <p:nvPr/>
        </p:nvSpPr>
        <p:spPr>
          <a:xfrm>
            <a:off x="2305594" y="1600200"/>
            <a:ext cx="1436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</a:t>
            </a:r>
            <a:endParaRPr lang="en-US" sz="2000" dirty="0"/>
          </a:p>
        </p:txBody>
      </p:sp>
      <p:sp>
        <p:nvSpPr>
          <p:cNvPr id="9" name="hito-texto"/>
          <p:cNvSpPr txBox="1"/>
          <p:nvPr/>
        </p:nvSpPr>
        <p:spPr>
          <a:xfrm>
            <a:off x="2305594" y="2697480"/>
            <a:ext cx="143691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Ley 29664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Crea el SINAGERD: CENEPRED e INDECI</a:t>
            </a:r>
            <a:endParaRPr lang="en-US" sz="1400" dirty="0"/>
          </a:p>
        </p:txBody>
      </p:sp>
      <p:sp>
        <p:nvSpPr>
          <p:cNvPr id="10" name="hito"/>
          <p:cNvSpPr/>
          <p:nvPr/>
        </p:nvSpPr>
        <p:spPr>
          <a:xfrm>
            <a:off x="4396958" y="22219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hito-anio"/>
          <p:cNvSpPr txBox="1"/>
          <p:nvPr/>
        </p:nvSpPr>
        <p:spPr>
          <a:xfrm>
            <a:off x="3833949" y="1600200"/>
            <a:ext cx="1436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2000" dirty="0"/>
          </a:p>
        </p:txBody>
      </p:sp>
      <p:sp>
        <p:nvSpPr>
          <p:cNvPr id="12" name="hito-texto"/>
          <p:cNvSpPr txBox="1"/>
          <p:nvPr/>
        </p:nvSpPr>
        <p:spPr>
          <a:xfrm>
            <a:off x="3833949" y="2697480"/>
            <a:ext cx="143691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Ley 29869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Reasentamiento de poblaciones en zonas de muy alto riesgo no mitigable</a:t>
            </a:r>
            <a:endParaRPr lang="en-US" sz="1400" dirty="0"/>
          </a:p>
        </p:txBody>
      </p:sp>
      <p:sp>
        <p:nvSpPr>
          <p:cNvPr id="13" name="hito"/>
          <p:cNvSpPr/>
          <p:nvPr/>
        </p:nvSpPr>
        <p:spPr>
          <a:xfrm>
            <a:off x="5925312" y="22219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hito-anio"/>
          <p:cNvSpPr txBox="1"/>
          <p:nvPr/>
        </p:nvSpPr>
        <p:spPr>
          <a:xfrm>
            <a:off x="5362303" y="1600200"/>
            <a:ext cx="1436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2000" dirty="0"/>
          </a:p>
        </p:txBody>
      </p:sp>
      <p:sp>
        <p:nvSpPr>
          <p:cNvPr id="15" name="hito-texto"/>
          <p:cNvSpPr txBox="1"/>
          <p:nvPr/>
        </p:nvSpPr>
        <p:spPr>
          <a:xfrm>
            <a:off x="5362303" y="2697480"/>
            <a:ext cx="143691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Leyes 30556 y 30645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Reconstrucción con Cambios; prohíbe titular y dar servicios en zonas no mitigables</a:t>
            </a:r>
            <a:endParaRPr lang="en-US" sz="1400" dirty="0"/>
          </a:p>
        </p:txBody>
      </p:sp>
      <p:sp>
        <p:nvSpPr>
          <p:cNvPr id="16" name="hito"/>
          <p:cNvSpPr/>
          <p:nvPr/>
        </p:nvSpPr>
        <p:spPr>
          <a:xfrm>
            <a:off x="7453666" y="22219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hito-anio"/>
          <p:cNvSpPr txBox="1"/>
          <p:nvPr/>
        </p:nvSpPr>
        <p:spPr>
          <a:xfrm>
            <a:off x="6890657" y="1600200"/>
            <a:ext cx="1436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2000" dirty="0"/>
          </a:p>
        </p:txBody>
      </p:sp>
      <p:sp>
        <p:nvSpPr>
          <p:cNvPr id="18" name="hito-texto"/>
          <p:cNvSpPr txBox="1"/>
          <p:nvPr/>
        </p:nvSpPr>
        <p:spPr>
          <a:xfrm>
            <a:off x="6890657" y="2697480"/>
            <a:ext cx="143691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D.S. 029-2019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Reglamento de licencias de habilitación y edificación</a:t>
            </a:r>
            <a:endParaRPr lang="en-US" sz="1400" dirty="0"/>
          </a:p>
        </p:txBody>
      </p:sp>
      <p:sp>
        <p:nvSpPr>
          <p:cNvPr id="19" name="hito"/>
          <p:cNvSpPr/>
          <p:nvPr/>
        </p:nvSpPr>
        <p:spPr>
          <a:xfrm>
            <a:off x="8982021" y="22219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hito-anio"/>
          <p:cNvSpPr txBox="1"/>
          <p:nvPr/>
        </p:nvSpPr>
        <p:spPr>
          <a:xfrm>
            <a:off x="8419011" y="1600200"/>
            <a:ext cx="1436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2000" dirty="0"/>
          </a:p>
        </p:txBody>
      </p:sp>
      <p:sp>
        <p:nvSpPr>
          <p:cNvPr id="21" name="hito-texto"/>
          <p:cNvSpPr txBox="1"/>
          <p:nvPr/>
        </p:nvSpPr>
        <p:spPr>
          <a:xfrm>
            <a:off x="8419011" y="2697480"/>
            <a:ext cx="143691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Ley 31313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Ley de Desarrollo Urbano Sostenible</a:t>
            </a:r>
            <a:endParaRPr lang="en-US" sz="1400" dirty="0"/>
          </a:p>
        </p:txBody>
      </p:sp>
      <p:sp>
        <p:nvSpPr>
          <p:cNvPr id="22" name="hito"/>
          <p:cNvSpPr/>
          <p:nvPr/>
        </p:nvSpPr>
        <p:spPr>
          <a:xfrm>
            <a:off x="10510375" y="22219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hito-anio"/>
          <p:cNvSpPr txBox="1"/>
          <p:nvPr/>
        </p:nvSpPr>
        <p:spPr>
          <a:xfrm>
            <a:off x="9947366" y="1600200"/>
            <a:ext cx="1436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000" dirty="0"/>
          </a:p>
        </p:txBody>
      </p:sp>
      <p:sp>
        <p:nvSpPr>
          <p:cNvPr id="24" name="hito-texto"/>
          <p:cNvSpPr txBox="1"/>
          <p:nvPr/>
        </p:nvSpPr>
        <p:spPr>
          <a:xfrm>
            <a:off x="9947366" y="2697480"/>
            <a:ext cx="143691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Ley 32425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Prioriza muros de contención y escaleras en la inversión pública</a:t>
            </a:r>
            <a:endParaRPr lang="en-US" sz="1400" dirty="0"/>
          </a:p>
        </p:txBody>
      </p:sp>
      <p:sp>
        <p:nvSpPr>
          <p:cNvPr id="25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El Peruano – Normas Legales; Congreso de la República.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Modalidades de aprobación de una habilitación</a:t>
            </a:r>
            <a:endParaRPr lang="en-US" sz="3200" dirty="0"/>
          </a:p>
        </p:txBody>
      </p:sp>
      <p:graphicFrame>
        <p:nvGraphicFramePr>
          <p:cNvPr id="6" name="tabla-modalidad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937760"/>
                <a:gridCol w="44805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Modalidad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Cómo se aprueba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Tipo de proyecto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Aprobación automática con firma de profesionales responsables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Casos simples y de menor escala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Aprobación con verificación técnica municipal posterior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Proyectos pequeños que no afectan el plan vial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Evaluación previa por Revisores Urbanos o Comisión Técnica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Proyectos medianos y grandes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Evaluación previa obligatoria por Comisión Técnica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Casos complejos: grandes áreas, zonas especiales o de protección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Cuando el terreno está en zona de peligro, la municipalidad debe exigir la Evaluación del Riesgo (EVAR) con la metodología de CENEPRED antes de aprobar.</a:t>
            </a:r>
            <a:endParaRPr lang="en-US" sz="1500" dirty="0"/>
          </a:p>
        </p:txBody>
      </p:sp>
      <p:sp>
        <p:nvSpPr>
          <p:cNvPr id="5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D.S. 029-2019-VIVIENDA y modificatorias. Los criterios exactos de cada modalidad se verifican en el texto vigente y en el TUPA municipal.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SINAGERD: quién hace qué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350520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icono-circulo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31874"/>
            <a:ext cx="285293" cy="285293"/>
          </a:xfrm>
          <a:prstGeom prst="rect">
            <a:avLst/>
          </a:prstGeom>
        </p:spPr>
      </p:pic>
      <p:sp>
        <p:nvSpPr>
          <p:cNvPr id="6" name="tarjeta-titulo"/>
          <p:cNvSpPr txBox="1"/>
          <p:nvPr/>
        </p:nvSpPr>
        <p:spPr>
          <a:xfrm>
            <a:off x="146304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CENEPRED</a:t>
            </a:r>
            <a:endParaRPr lang="en-US" sz="1700" dirty="0"/>
          </a:p>
        </p:txBody>
      </p:sp>
      <p:sp>
        <p:nvSpPr>
          <p:cNvPr id="7" name="tarjeta-texto"/>
          <p:cNvSpPr txBox="1"/>
          <p:nvPr/>
        </p:nvSpPr>
        <p:spPr>
          <a:xfrm>
            <a:off x="777240" y="2286000"/>
            <a:ext cx="304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Gestión prospectiva y correctiva: estimación del riesgo, prevención, reducción y reconstrucción. Elabora metodologías como la EVAR y da asistencia técnica a gobiernos locales.</a:t>
            </a:r>
            <a:endParaRPr lang="en-US" sz="1500" dirty="0"/>
          </a:p>
        </p:txBody>
      </p:sp>
      <p:sp>
        <p:nvSpPr>
          <p:cNvPr id="8" name="tarjeta"/>
          <p:cNvSpPr/>
          <p:nvPr/>
        </p:nvSpPr>
        <p:spPr>
          <a:xfrm>
            <a:off x="4328160" y="1371600"/>
            <a:ext cx="350520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9" name="icono-circulo"/>
          <p:cNvSpPr/>
          <p:nvPr/>
        </p:nvSpPr>
        <p:spPr>
          <a:xfrm>
            <a:off x="45567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434" y="1731874"/>
            <a:ext cx="285293" cy="285293"/>
          </a:xfrm>
          <a:prstGeom prst="rect">
            <a:avLst/>
          </a:prstGeom>
        </p:spPr>
      </p:pic>
      <p:sp>
        <p:nvSpPr>
          <p:cNvPr id="11" name="tarjeta-titulo"/>
          <p:cNvSpPr txBox="1"/>
          <p:nvPr/>
        </p:nvSpPr>
        <p:spPr>
          <a:xfrm>
            <a:off x="524256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INDECI</a:t>
            </a:r>
            <a:endParaRPr lang="en-US" sz="1700" dirty="0"/>
          </a:p>
        </p:txBody>
      </p:sp>
      <p:sp>
        <p:nvSpPr>
          <p:cNvPr id="12" name="tarjeta-texto"/>
          <p:cNvSpPr txBox="1"/>
          <p:nvPr/>
        </p:nvSpPr>
        <p:spPr>
          <a:xfrm>
            <a:off x="4556760" y="2286000"/>
            <a:ext cx="304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Gestión reactiva: preparación, respuesta y rehabilitación. Opera el COEN, organiza simulacros y registra emergencias.</a:t>
            </a:r>
            <a:endParaRPr lang="en-US" sz="1500" dirty="0"/>
          </a:p>
        </p:txBody>
      </p:sp>
      <p:sp>
        <p:nvSpPr>
          <p:cNvPr id="13" name="tarjeta"/>
          <p:cNvSpPr/>
          <p:nvPr/>
        </p:nvSpPr>
        <p:spPr>
          <a:xfrm>
            <a:off x="8107680" y="1371600"/>
            <a:ext cx="350520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4" name="icono-circulo"/>
          <p:cNvSpPr/>
          <p:nvPr/>
        </p:nvSpPr>
        <p:spPr>
          <a:xfrm>
            <a:off x="83362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954" y="1731874"/>
            <a:ext cx="285293" cy="285293"/>
          </a:xfrm>
          <a:prstGeom prst="rect">
            <a:avLst/>
          </a:prstGeom>
        </p:spPr>
      </p:pic>
      <p:sp>
        <p:nvSpPr>
          <p:cNvPr id="16" name="tarjeta-titulo"/>
          <p:cNvSpPr txBox="1"/>
          <p:nvPr/>
        </p:nvSpPr>
        <p:spPr>
          <a:xfrm>
            <a:off x="902208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Gobiernos locales</a:t>
            </a:r>
            <a:endParaRPr lang="en-US" sz="1700" dirty="0"/>
          </a:p>
        </p:txBody>
      </p:sp>
      <p:sp>
        <p:nvSpPr>
          <p:cNvPr id="17" name="tarjeta-texto"/>
          <p:cNvSpPr txBox="1"/>
          <p:nvPr/>
        </p:nvSpPr>
        <p:spPr>
          <a:xfrm>
            <a:off x="8336280" y="2286000"/>
            <a:ext cx="304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Aprueban habilitaciones y licencias, zonifican, fiscalizan, conforman su Grupo de Trabajo de GRD y elaboran el Plan de Prevención y Reducción del Riesgo (PPRRD).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800600"/>
            <a:ext cx="11064240" cy="7315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GRD tiene 7 procesos: estimación · prevención · reducción · preparación · respuesta · rehabilitación · reconstrucción</a:t>
            </a:r>
            <a:endParaRPr lang="en-US" sz="1600" dirty="0"/>
          </a:p>
        </p:txBody>
      </p:sp>
      <p:sp>
        <p:nvSpPr>
          <p:cNvPr id="19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Ley N.° 29664 y su Reglamento (D.S. 048-2011-PCM).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mide el riesgo?</a:t>
            </a:r>
            <a:endParaRPr lang="en-US" sz="3200" dirty="0"/>
          </a:p>
        </p:txBody>
      </p:sp>
      <p:sp>
        <p:nvSpPr>
          <p:cNvPr id="3" name="formula"/>
          <p:cNvSpPr/>
          <p:nvPr/>
        </p:nvSpPr>
        <p:spPr>
          <a:xfrm>
            <a:off x="548640" y="1554480"/>
            <a:ext cx="3017520" cy="1554480"/>
          </a:xfrm>
          <a:prstGeom prst="roundRect">
            <a:avLst>
              <a:gd name="adj" fmla="val 8824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RIESGO</a:t>
            </a:r>
            <a:endParaRPr lang="en-US" sz="2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probabilidad de daños y pérdidas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554480"/>
            <a:ext cx="731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=</a:t>
            </a:r>
            <a:endParaRPr lang="en-US" sz="4000" dirty="0"/>
          </a:p>
        </p:txBody>
      </p:sp>
      <p:sp>
        <p:nvSpPr>
          <p:cNvPr id="6" name="formula"/>
          <p:cNvSpPr/>
          <p:nvPr/>
        </p:nvSpPr>
        <p:spPr>
          <a:xfrm>
            <a:off x="4297680" y="1554480"/>
            <a:ext cx="3017520" cy="1554480"/>
          </a:xfrm>
          <a:prstGeom prst="roundRect">
            <a:avLst>
              <a:gd name="adj" fmla="val 8824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34840" y="1600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PELIGRO</a:t>
            </a:r>
            <a:endParaRPr lang="en-US" sz="2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sismo, huaico, inundación, tsunami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554480"/>
            <a:ext cx="731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×</a:t>
            </a:r>
            <a:endParaRPr lang="en-US" sz="4000" dirty="0"/>
          </a:p>
        </p:txBody>
      </p:sp>
      <p:sp>
        <p:nvSpPr>
          <p:cNvPr id="9" name="formula"/>
          <p:cNvSpPr/>
          <p:nvPr/>
        </p:nvSpPr>
        <p:spPr>
          <a:xfrm>
            <a:off x="8046720" y="1554480"/>
            <a:ext cx="3017520" cy="1554480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83880" y="1600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VULNERABILIDAD</a:t>
            </a:r>
            <a:endParaRPr lang="en-US" sz="2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exposición, fragilidad, resiliencia</a:t>
            </a:r>
            <a:endParaRPr lang="en-US" sz="2600" dirty="0"/>
          </a:p>
        </p:txBody>
      </p:sp>
      <p:sp>
        <p:nvSpPr>
          <p:cNvPr id="11" name="tarjeta"/>
          <p:cNvSpPr/>
          <p:nvPr/>
        </p:nvSpPr>
        <p:spPr>
          <a:xfrm>
            <a:off x="548640" y="3474720"/>
            <a:ext cx="35052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2" name="tarjeta-titulo"/>
          <p:cNvSpPr txBox="1"/>
          <p:nvPr/>
        </p:nvSpPr>
        <p:spPr>
          <a:xfrm>
            <a:off x="777240" y="3703320"/>
            <a:ext cx="309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Exposición</a:t>
            </a:r>
            <a:endParaRPr lang="en-US" sz="1700" dirty="0"/>
          </a:p>
        </p:txBody>
      </p:sp>
      <p:sp>
        <p:nvSpPr>
          <p:cNvPr id="13" name="tarjeta-texto"/>
          <p:cNvSpPr txBox="1"/>
          <p:nvPr/>
        </p:nvSpPr>
        <p:spPr>
          <a:xfrm>
            <a:off x="777240" y="438912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Vivir en la quebrada, al borde del río o en pendiente fuerte.</a:t>
            </a:r>
            <a:endParaRPr lang="en-US" sz="1400" dirty="0"/>
          </a:p>
        </p:txBody>
      </p:sp>
      <p:sp>
        <p:nvSpPr>
          <p:cNvPr id="14" name="tarjeta"/>
          <p:cNvSpPr/>
          <p:nvPr/>
        </p:nvSpPr>
        <p:spPr>
          <a:xfrm>
            <a:off x="4328160" y="3474720"/>
            <a:ext cx="35052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5" name="tarjeta-titulo"/>
          <p:cNvSpPr txBox="1"/>
          <p:nvPr/>
        </p:nvSpPr>
        <p:spPr>
          <a:xfrm>
            <a:off x="4556760" y="3703320"/>
            <a:ext cx="309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Fragilidad</a:t>
            </a:r>
            <a:endParaRPr lang="en-US" sz="1700" dirty="0"/>
          </a:p>
        </p:txBody>
      </p:sp>
      <p:sp>
        <p:nvSpPr>
          <p:cNvPr id="16" name="tarjeta-texto"/>
          <p:cNvSpPr txBox="1"/>
          <p:nvPr/>
        </p:nvSpPr>
        <p:spPr>
          <a:xfrm>
            <a:off x="4556760" y="438912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Autoconstrucción sin planos, sin columnas ni cimientos adecuados.</a:t>
            </a:r>
            <a:endParaRPr lang="en-US" sz="1400" dirty="0"/>
          </a:p>
        </p:txBody>
      </p:sp>
      <p:sp>
        <p:nvSpPr>
          <p:cNvPr id="17" name="tarjeta"/>
          <p:cNvSpPr/>
          <p:nvPr/>
        </p:nvSpPr>
        <p:spPr>
          <a:xfrm>
            <a:off x="8107680" y="3474720"/>
            <a:ext cx="35052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8" name="tarjeta-titulo"/>
          <p:cNvSpPr txBox="1"/>
          <p:nvPr/>
        </p:nvSpPr>
        <p:spPr>
          <a:xfrm>
            <a:off x="8336280" y="3703320"/>
            <a:ext cx="309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Resiliencia</a:t>
            </a:r>
            <a:endParaRPr lang="en-US" sz="1700" dirty="0"/>
          </a:p>
        </p:txBody>
      </p:sp>
      <p:sp>
        <p:nvSpPr>
          <p:cNvPr id="19" name="tarjeta-texto"/>
          <p:cNvSpPr txBox="1"/>
          <p:nvPr/>
        </p:nvSpPr>
        <p:spPr>
          <a:xfrm>
            <a:off x="8336280" y="438912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Capacidad de la familia y el barrio para responder y recuperarse.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Zona de riesgo mitigable: se puede reducir con obras. No mitigable: el costo de reducirlo supera al de reubicar → no debe habitarse.</a:t>
            </a:r>
            <a:endParaRPr lang="en-US" sz="1400" dirty="0"/>
          </a:p>
        </p:txBody>
      </p:sp>
      <p:sp>
        <p:nvSpPr>
          <p:cNvPr id="21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CENEPRED, Manual para la Evaluación de Riesgos (EVAR); Ley N.° 29869.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peligros que enfrenta el Perú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4" name="icono-circulo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31874"/>
            <a:ext cx="285293" cy="285293"/>
          </a:xfrm>
          <a:prstGeom prst="rect">
            <a:avLst/>
          </a:prstGeom>
        </p:spPr>
      </p:pic>
      <p:sp>
        <p:nvSpPr>
          <p:cNvPr id="6" name="tarjeta-titulo"/>
          <p:cNvSpPr txBox="1"/>
          <p:nvPr/>
        </p:nvSpPr>
        <p:spPr>
          <a:xfrm>
            <a:off x="146304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Sismos</a:t>
            </a:r>
            <a:endParaRPr lang="en-US" sz="1700" dirty="0"/>
          </a:p>
        </p:txBody>
      </p:sp>
      <p:sp>
        <p:nvSpPr>
          <p:cNvPr id="7" name="tarjeta-texto"/>
          <p:cNvSpPr txBox="1"/>
          <p:nvPr/>
        </p:nvSpPr>
        <p:spPr>
          <a:xfrm>
            <a:off x="77724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El país está en el Cinturón de Fuego del Pacífico. Toda la costa es Zona 4, la de mayor peligro sísmico (Norma E.030).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432816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9" name="icono-circulo"/>
          <p:cNvSpPr/>
          <p:nvPr/>
        </p:nvSpPr>
        <p:spPr>
          <a:xfrm>
            <a:off x="45567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434" y="1731874"/>
            <a:ext cx="285293" cy="285293"/>
          </a:xfrm>
          <a:prstGeom prst="rect">
            <a:avLst/>
          </a:prstGeom>
        </p:spPr>
      </p:pic>
      <p:sp>
        <p:nvSpPr>
          <p:cNvPr id="11" name="tarjeta-titulo"/>
          <p:cNvSpPr txBox="1"/>
          <p:nvPr/>
        </p:nvSpPr>
        <p:spPr>
          <a:xfrm>
            <a:off x="524256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Lluvias y El Niño</a:t>
            </a:r>
            <a:endParaRPr lang="en-US" sz="1700" dirty="0"/>
          </a:p>
        </p:txBody>
      </p:sp>
      <p:sp>
        <p:nvSpPr>
          <p:cNvPr id="12" name="tarjeta-texto"/>
          <p:cNvSpPr txBox="1"/>
          <p:nvPr/>
        </p:nvSpPr>
        <p:spPr>
          <a:xfrm>
            <a:off x="455676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Activan quebradas secas y generan huaicos e inundaciones, como en 2017 y 2023.</a:t>
            </a:r>
            <a:endParaRPr lang="en-US" sz="1400" dirty="0"/>
          </a:p>
        </p:txBody>
      </p:sp>
      <p:sp>
        <p:nvSpPr>
          <p:cNvPr id="13" name="tarjeta"/>
          <p:cNvSpPr/>
          <p:nvPr/>
        </p:nvSpPr>
        <p:spPr>
          <a:xfrm>
            <a:off x="810768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14" name="icono-circulo"/>
          <p:cNvSpPr/>
          <p:nvPr/>
        </p:nvSpPr>
        <p:spPr>
          <a:xfrm>
            <a:off x="83362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954" y="1731874"/>
            <a:ext cx="285293" cy="285293"/>
          </a:xfrm>
          <a:prstGeom prst="rect">
            <a:avLst/>
          </a:prstGeom>
        </p:spPr>
      </p:pic>
      <p:sp>
        <p:nvSpPr>
          <p:cNvPr id="16" name="tarjeta-titulo"/>
          <p:cNvSpPr txBox="1"/>
          <p:nvPr/>
        </p:nvSpPr>
        <p:spPr>
          <a:xfrm>
            <a:off x="902208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Movimientos en masa</a:t>
            </a:r>
            <a:endParaRPr lang="en-US" sz="1700" dirty="0"/>
          </a:p>
        </p:txBody>
      </p:sp>
      <p:sp>
        <p:nvSpPr>
          <p:cNvPr id="17" name="tarjeta-texto"/>
          <p:cNvSpPr txBox="1"/>
          <p:nvPr/>
        </p:nvSpPr>
        <p:spPr>
          <a:xfrm>
            <a:off x="833628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Deslizamientos y caída de rocas en laderas ocupadas sin estudios.</a:t>
            </a:r>
            <a:endParaRPr lang="en-US" sz="1400" dirty="0"/>
          </a:p>
        </p:txBody>
      </p:sp>
      <p:sp>
        <p:nvSpPr>
          <p:cNvPr id="18" name="tarjeta"/>
          <p:cNvSpPr/>
          <p:nvPr/>
        </p:nvSpPr>
        <p:spPr>
          <a:xfrm>
            <a:off x="54864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19" name="icono-circulo"/>
          <p:cNvSpPr/>
          <p:nvPr/>
        </p:nvSpPr>
        <p:spPr>
          <a:xfrm>
            <a:off x="77724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132174"/>
            <a:ext cx="285293" cy="285293"/>
          </a:xfrm>
          <a:prstGeom prst="rect">
            <a:avLst/>
          </a:prstGeom>
        </p:spPr>
      </p:pic>
      <p:sp>
        <p:nvSpPr>
          <p:cNvPr id="21" name="tarjeta-titulo"/>
          <p:cNvSpPr txBox="1"/>
          <p:nvPr/>
        </p:nvSpPr>
        <p:spPr>
          <a:xfrm>
            <a:off x="146304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Tsunami</a:t>
            </a:r>
            <a:endParaRPr lang="en-US" sz="1700" dirty="0"/>
          </a:p>
        </p:txBody>
      </p:sp>
      <p:sp>
        <p:nvSpPr>
          <p:cNvPr id="22" name="tarjeta-texto"/>
          <p:cNvSpPr txBox="1"/>
          <p:nvPr/>
        </p:nvSpPr>
        <p:spPr>
          <a:xfrm>
            <a:off x="77724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Afecta zonas costeras bajas, como el Callao y balnearios del litoral.</a:t>
            </a:r>
            <a:endParaRPr lang="en-US" sz="1400" dirty="0"/>
          </a:p>
        </p:txBody>
      </p:sp>
      <p:sp>
        <p:nvSpPr>
          <p:cNvPr id="23" name="tarjeta"/>
          <p:cNvSpPr/>
          <p:nvPr/>
        </p:nvSpPr>
        <p:spPr>
          <a:xfrm>
            <a:off x="432816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24" name="icono-circulo"/>
          <p:cNvSpPr/>
          <p:nvPr/>
        </p:nvSpPr>
        <p:spPr>
          <a:xfrm>
            <a:off x="455676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434" y="4132174"/>
            <a:ext cx="285293" cy="285293"/>
          </a:xfrm>
          <a:prstGeom prst="rect">
            <a:avLst/>
          </a:prstGeom>
        </p:spPr>
      </p:pic>
      <p:sp>
        <p:nvSpPr>
          <p:cNvPr id="26" name="tarjeta-titulo"/>
          <p:cNvSpPr txBox="1"/>
          <p:nvPr/>
        </p:nvSpPr>
        <p:spPr>
          <a:xfrm>
            <a:off x="524256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Incendios urbanos</a:t>
            </a:r>
            <a:endParaRPr lang="en-US" sz="1700" dirty="0"/>
          </a:p>
        </p:txBody>
      </p:sp>
      <p:sp>
        <p:nvSpPr>
          <p:cNvPr id="27" name="tarjeta-texto"/>
          <p:cNvSpPr txBox="1"/>
          <p:nvPr/>
        </p:nvSpPr>
        <p:spPr>
          <a:xfrm>
            <a:off x="455676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Viviendas de madera y triplay, conexiones eléctricas precarias y calles sin acceso.</a:t>
            </a:r>
            <a:endParaRPr lang="en-US" sz="1400" dirty="0"/>
          </a:p>
        </p:txBody>
      </p:sp>
      <p:sp>
        <p:nvSpPr>
          <p:cNvPr id="28" name="tarjeta"/>
          <p:cNvSpPr/>
          <p:nvPr/>
        </p:nvSpPr>
        <p:spPr>
          <a:xfrm>
            <a:off x="810768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29" name="icono-circulo"/>
          <p:cNvSpPr/>
          <p:nvPr/>
        </p:nvSpPr>
        <p:spPr>
          <a:xfrm>
            <a:off x="833628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954" y="4132174"/>
            <a:ext cx="285293" cy="285293"/>
          </a:xfrm>
          <a:prstGeom prst="rect">
            <a:avLst/>
          </a:prstGeom>
        </p:spPr>
      </p:pic>
      <p:sp>
        <p:nvSpPr>
          <p:cNvPr id="31" name="tarjeta-titulo"/>
          <p:cNvSpPr txBox="1"/>
          <p:nvPr/>
        </p:nvSpPr>
        <p:spPr>
          <a:xfrm>
            <a:off x="902208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Heladas y friaje</a:t>
            </a:r>
            <a:endParaRPr lang="en-US" sz="1700" dirty="0"/>
          </a:p>
        </p:txBody>
      </p:sp>
      <p:sp>
        <p:nvSpPr>
          <p:cNvPr id="32" name="tarjeta-texto"/>
          <p:cNvSpPr txBox="1"/>
          <p:nvPr/>
        </p:nvSpPr>
        <p:spPr>
          <a:xfrm>
            <a:off x="833628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Golpean zonas altoandinas y amazónicas cada año.</a:t>
            </a:r>
            <a:endParaRPr lang="en-US" sz="1400" dirty="0"/>
          </a:p>
        </p:txBody>
      </p:sp>
      <p:sp>
        <p:nvSpPr>
          <p:cNvPr id="33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Norma Técnica E.030 Diseño Sismorresistente (RNE); INDECI; CENEPRED.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maneras de hacer ciudad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Formal</a:t>
            </a:r>
            <a:endParaRPr lang="en-US" sz="1800" dirty="0"/>
          </a:p>
        </p:txBody>
      </p:sp>
      <p:sp>
        <p:nvSpPr>
          <p:cNvPr id="4" name="paso"/>
          <p:cNvSpPr/>
          <p:nvPr/>
        </p:nvSpPr>
        <p:spPr>
          <a:xfrm>
            <a:off x="2651760" y="1463040"/>
            <a:ext cx="20116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Planificar y zonificar</a:t>
            </a:r>
            <a:endParaRPr lang="en-US" sz="1800" dirty="0"/>
          </a:p>
        </p:txBody>
      </p:sp>
      <p:sp>
        <p:nvSpPr>
          <p:cNvPr id="6" name="paso"/>
          <p:cNvSpPr/>
          <p:nvPr/>
        </p:nvSpPr>
        <p:spPr>
          <a:xfrm>
            <a:off x="4983480" y="1463040"/>
            <a:ext cx="20116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7492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Evaluar el riesgo (EVAR)</a:t>
            </a:r>
            <a:endParaRPr lang="en-US" sz="1800" dirty="0"/>
          </a:p>
        </p:txBody>
      </p:sp>
      <p:sp>
        <p:nvSpPr>
          <p:cNvPr id="8" name="paso"/>
          <p:cNvSpPr/>
          <p:nvPr/>
        </p:nvSpPr>
        <p:spPr>
          <a:xfrm>
            <a:off x="7315200" y="1463040"/>
            <a:ext cx="20116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066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Habilitar: vías y servicios</a:t>
            </a:r>
            <a:endParaRPr lang="en-US" sz="1800" dirty="0"/>
          </a:p>
        </p:txBody>
      </p:sp>
      <p:sp>
        <p:nvSpPr>
          <p:cNvPr id="10" name="paso"/>
          <p:cNvSpPr/>
          <p:nvPr/>
        </p:nvSpPr>
        <p:spPr>
          <a:xfrm>
            <a:off x="9646920" y="1463040"/>
            <a:ext cx="20116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73836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Construir con licencia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718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Informal</a:t>
            </a:r>
            <a:endParaRPr lang="en-US" sz="1800" dirty="0"/>
          </a:p>
        </p:txBody>
      </p:sp>
      <p:sp>
        <p:nvSpPr>
          <p:cNvPr id="13" name="paso"/>
          <p:cNvSpPr/>
          <p:nvPr/>
        </p:nvSpPr>
        <p:spPr>
          <a:xfrm>
            <a:off x="2651760" y="2971800"/>
            <a:ext cx="201168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0" y="2971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Invadir o comprar a traficantes</a:t>
            </a:r>
            <a:endParaRPr lang="en-US" sz="1800" dirty="0"/>
          </a:p>
        </p:txBody>
      </p:sp>
      <p:sp>
        <p:nvSpPr>
          <p:cNvPr id="15" name="paso"/>
          <p:cNvSpPr/>
          <p:nvPr/>
        </p:nvSpPr>
        <p:spPr>
          <a:xfrm>
            <a:off x="4983480" y="2971800"/>
            <a:ext cx="201168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74920" y="2971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Autoconstruir</a:t>
            </a:r>
            <a:endParaRPr lang="en-US" sz="1800" dirty="0"/>
          </a:p>
        </p:txBody>
      </p:sp>
      <p:sp>
        <p:nvSpPr>
          <p:cNvPr id="17" name="paso"/>
          <p:cNvSpPr/>
          <p:nvPr/>
        </p:nvSpPr>
        <p:spPr>
          <a:xfrm>
            <a:off x="7315200" y="2971800"/>
            <a:ext cx="201168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06640" y="2971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Exigir agua, luz y pistas</a:t>
            </a:r>
            <a:endParaRPr lang="en-US" sz="1800" dirty="0"/>
          </a:p>
        </p:txBody>
      </p:sp>
      <p:sp>
        <p:nvSpPr>
          <p:cNvPr id="19" name="paso"/>
          <p:cNvSpPr/>
          <p:nvPr/>
        </p:nvSpPr>
        <p:spPr>
          <a:xfrm>
            <a:off x="9646920" y="2971800"/>
            <a:ext cx="201168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38360" y="2971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Formalizar años después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34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En la vía informal el Estado llega al final: paga obras más caras (muros, escaleras, reubicación) en terrenos que nunca debieron ocuparse.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 Lima, el 91 % de la expansión urbana 2001–2018 se dio por mecanismos ilegales.</a:t>
            </a:r>
            <a:endParaRPr lang="en-US" sz="1600" dirty="0"/>
          </a:p>
        </p:txBody>
      </p:sp>
      <p:sp>
        <p:nvSpPr>
          <p:cNvPr id="23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GRADE (Espinoza y Fort); estudio citado en Dialnet sobre expansión de Lima 2001–2018.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1: terremoto de Pisco, 15 de agosto de 2007</a:t>
            </a:r>
            <a:endParaRPr lang="en-US" sz="3200" dirty="0"/>
          </a:p>
        </p:txBody>
      </p:sp>
      <p:sp>
        <p:nvSpPr>
          <p:cNvPr id="3" name="stat-card"/>
          <p:cNvSpPr/>
          <p:nvPr/>
        </p:nvSpPr>
        <p:spPr>
          <a:xfrm>
            <a:off x="548640" y="1371600"/>
            <a:ext cx="27432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stat-valor"/>
          <p:cNvSpPr txBox="1"/>
          <p:nvPr/>
        </p:nvSpPr>
        <p:spPr>
          <a:xfrm>
            <a:off x="777240" y="15544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endParaRPr lang="en-US" sz="4000" dirty="0"/>
          </a:p>
        </p:txBody>
      </p:sp>
      <p:sp>
        <p:nvSpPr>
          <p:cNvPr id="5" name="stat-texto"/>
          <p:cNvSpPr txBox="1"/>
          <p:nvPr/>
        </p:nvSpPr>
        <p:spPr>
          <a:xfrm>
            <a:off x="777240" y="2651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magnitud, epicentro a 40 km al oeste de Pisco</a:t>
            </a:r>
            <a:endParaRPr lang="en-US" sz="1400" dirty="0"/>
          </a:p>
        </p:txBody>
      </p:sp>
      <p:sp>
        <p:nvSpPr>
          <p:cNvPr id="6" name="stat-card"/>
          <p:cNvSpPr/>
          <p:nvPr/>
        </p:nvSpPr>
        <p:spPr>
          <a:xfrm>
            <a:off x="3520440" y="1371600"/>
            <a:ext cx="27432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7" name="stat-valor"/>
          <p:cNvSpPr txBox="1"/>
          <p:nvPr/>
        </p:nvSpPr>
        <p:spPr>
          <a:xfrm>
            <a:off x="3749040" y="15544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596</a:t>
            </a:r>
            <a:endParaRPr lang="en-US" sz="4000" dirty="0"/>
          </a:p>
        </p:txBody>
      </p:sp>
      <p:sp>
        <p:nvSpPr>
          <p:cNvPr id="8" name="stat-texto"/>
          <p:cNvSpPr txBox="1"/>
          <p:nvPr/>
        </p:nvSpPr>
        <p:spPr>
          <a:xfrm>
            <a:off x="3749040" y="2651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personas fallecidas (INDECI)</a:t>
            </a:r>
            <a:endParaRPr lang="en-US" sz="1400" dirty="0"/>
          </a:p>
        </p:txBody>
      </p:sp>
      <p:sp>
        <p:nvSpPr>
          <p:cNvPr id="9" name="stat-card"/>
          <p:cNvSpPr/>
          <p:nvPr/>
        </p:nvSpPr>
        <p:spPr>
          <a:xfrm>
            <a:off x="548640" y="3703320"/>
            <a:ext cx="27432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stat-valor"/>
          <p:cNvSpPr txBox="1"/>
          <p:nvPr/>
        </p:nvSpPr>
        <p:spPr>
          <a:xfrm>
            <a:off x="777240" y="38862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52,154</a:t>
            </a:r>
            <a:endParaRPr lang="en-US" sz="4000" dirty="0"/>
          </a:p>
        </p:txBody>
      </p:sp>
      <p:sp>
        <p:nvSpPr>
          <p:cNvPr id="11" name="stat-texto"/>
          <p:cNvSpPr txBox="1"/>
          <p:nvPr/>
        </p:nvSpPr>
        <p:spPr>
          <a:xfrm>
            <a:off x="777240" y="4983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viviendas totalmente destruidas</a:t>
            </a:r>
            <a:endParaRPr lang="en-US" sz="1400" dirty="0"/>
          </a:p>
        </p:txBody>
      </p:sp>
      <p:sp>
        <p:nvSpPr>
          <p:cNvPr id="12" name="stat-card"/>
          <p:cNvSpPr/>
          <p:nvPr/>
        </p:nvSpPr>
        <p:spPr>
          <a:xfrm>
            <a:off x="3520440" y="3703320"/>
            <a:ext cx="27432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3" name="stat-valor"/>
          <p:cNvSpPr txBox="1"/>
          <p:nvPr/>
        </p:nvSpPr>
        <p:spPr>
          <a:xfrm>
            <a:off x="3749040" y="38862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116,706</a:t>
            </a:r>
            <a:endParaRPr lang="en-US" sz="4000" dirty="0"/>
          </a:p>
        </p:txBody>
      </p:sp>
      <p:sp>
        <p:nvSpPr>
          <p:cNvPr id="14" name="stat-texto"/>
          <p:cNvSpPr txBox="1"/>
          <p:nvPr/>
        </p:nvSpPr>
        <p:spPr>
          <a:xfrm>
            <a:off x="3749040" y="4983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viviendas afectadas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1371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Lecciones para la habilitación urbana</a:t>
            </a:r>
            <a:endParaRPr lang="en-US" sz="2000" dirty="0"/>
          </a:p>
        </p:txBody>
      </p:sp>
      <p:sp>
        <p:nvSpPr>
          <p:cNvPr id="16" name="lista"/>
          <p:cNvSpPr txBox="1"/>
          <p:nvPr/>
        </p:nvSpPr>
        <p:spPr>
          <a:xfrm>
            <a:off x="6675120" y="19659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chemeClr val="tx2"/>
                </a:solidFill>
              </a:rPr>
              <a:t>La mayoría de viviendas colapsadas eran de adobe y autoconstrucción.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chemeClr val="tx2"/>
                </a:solidFill>
              </a:rPr>
              <a:t>Suelos arenosos y saturados amplificaron el daño (licuación en Tambo de Mora).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chemeClr val="tx2"/>
                </a:solidFill>
              </a:rPr>
              <a:t>18 años después, la reconstrucción en Ica aún no termina.</a:t>
            </a:r>
            <a:endParaRPr lang="en-US" sz="1600" dirty="0"/>
          </a:p>
        </p:txBody>
      </p:sp>
      <p:sp>
        <p:nvSpPr>
          <p:cNvPr id="17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INDECI; INEI citado por JICA; Diario Correo (2025), «A 18 años del terremoto aún no termina la reconstrucción».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2: El Niño Costero 2017</a:t>
            </a:r>
            <a:endParaRPr lang="en-US" sz="3200" dirty="0"/>
          </a:p>
        </p:txBody>
      </p:sp>
      <p:graphicFrame>
        <p:nvGraphicFramePr>
          <p:cNvPr id="3" name="grafico" descr=""/>
          <p:cNvGraphicFramePr/>
          <p:nvPr/>
        </p:nvGraphicFramePr>
        <p:xfrm>
          <a:off x="548640" y="1280160"/>
          <a:ext cx="6400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card"/>
          <p:cNvSpPr/>
          <p:nvPr/>
        </p:nvSpPr>
        <p:spPr>
          <a:xfrm>
            <a:off x="7315200" y="1371600"/>
            <a:ext cx="42976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5" name="stat-valor"/>
          <p:cNvSpPr txBox="1"/>
          <p:nvPr/>
        </p:nvSpPr>
        <p:spPr>
          <a:xfrm>
            <a:off x="7543800" y="1554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</a:t>
            </a:r>
            <a:endParaRPr lang="en-US" sz="4000" dirty="0"/>
          </a:p>
        </p:txBody>
      </p:sp>
      <p:sp>
        <p:nvSpPr>
          <p:cNvPr id="6" name="stat-texto"/>
          <p:cNvSpPr txBox="1"/>
          <p:nvPr/>
        </p:nvSpPr>
        <p:spPr>
          <a:xfrm>
            <a:off x="7543800" y="2468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personas fallecidas y 19 desaparecidas</a:t>
            </a:r>
            <a:endParaRPr lang="en-US" sz="1400" dirty="0"/>
          </a:p>
        </p:txBody>
      </p:sp>
      <p:sp>
        <p:nvSpPr>
          <p:cNvPr id="7" name="lista"/>
          <p:cNvSpPr txBox="1"/>
          <p:nvPr/>
        </p:nvSpPr>
        <p:spPr>
          <a:xfrm>
            <a:off x="7315200" y="3383280"/>
            <a:ext cx="4297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Las quebradas secas se activaron sobre barrios construidos en sus cauces.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Motivó la Ley 30556: «Reconstrucción con Cambios».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Lima: huaicos en Chosica, Carapongo y Huachipa (cuenca del Rímac).</a:t>
            </a:r>
            <a:endParaRPr lang="en-US" sz="1500" dirty="0"/>
          </a:p>
        </p:txBody>
      </p:sp>
      <p:sp>
        <p:nvSpPr>
          <p:cNvPr id="8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INDECI, reporte de agosto de 2017 (citado por ACI Prensa); Ley N.° 30556.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sismo de 8.8 en Lima y Callao</a:t>
            </a:r>
            <a:endParaRPr lang="en-US" sz="3200" dirty="0"/>
          </a:p>
        </p:txBody>
      </p:sp>
      <p:graphicFrame>
        <p:nvGraphicFramePr>
          <p:cNvPr id="3" name="grafico" descr=""/>
          <p:cNvGraphicFramePr/>
          <p:nvPr/>
        </p:nvGraphicFramePr>
        <p:xfrm>
          <a:off x="548640" y="128016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card"/>
          <p:cNvSpPr/>
          <p:nvPr/>
        </p:nvSpPr>
        <p:spPr>
          <a:xfrm>
            <a:off x="7680960" y="1371600"/>
            <a:ext cx="39319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stat-valor"/>
          <p:cNvSpPr txBox="1"/>
          <p:nvPr/>
        </p:nvSpPr>
        <p:spPr>
          <a:xfrm>
            <a:off x="790956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110,310</a:t>
            </a:r>
            <a:endParaRPr lang="en-US" sz="4000" dirty="0"/>
          </a:p>
        </p:txBody>
      </p:sp>
      <p:sp>
        <p:nvSpPr>
          <p:cNvPr id="6" name="stat-texto"/>
          <p:cNvSpPr txBox="1"/>
          <p:nvPr/>
        </p:nvSpPr>
        <p:spPr>
          <a:xfrm>
            <a:off x="790956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fallecidos estimados en el escenario 2023</a:t>
            </a:r>
            <a:endParaRPr lang="en-US" sz="1400" dirty="0"/>
          </a:p>
        </p:txBody>
      </p:sp>
      <p:sp>
        <p:nvSpPr>
          <p:cNvPr id="7" name="stat-card"/>
          <p:cNvSpPr/>
          <p:nvPr/>
        </p:nvSpPr>
        <p:spPr>
          <a:xfrm>
            <a:off x="7680960" y="3611880"/>
            <a:ext cx="39319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8" name="stat-valor"/>
          <p:cNvSpPr txBox="1"/>
          <p:nvPr/>
        </p:nvSpPr>
        <p:spPr>
          <a:xfrm>
            <a:off x="7909560" y="37947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 7 M</a:t>
            </a:r>
            <a:endParaRPr lang="en-US" sz="4000" dirty="0"/>
          </a:p>
        </p:txBody>
      </p:sp>
      <p:sp>
        <p:nvSpPr>
          <p:cNvPr id="9" name="stat-texto"/>
          <p:cNvSpPr txBox="1"/>
          <p:nvPr/>
        </p:nvSpPr>
        <p:spPr>
          <a:xfrm>
            <a:off x="7909560" y="4846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personas afectadas en Lima y Callao (CENEPRED)</a:t>
            </a:r>
            <a:endParaRPr lang="en-US" sz="1400" dirty="0"/>
          </a:p>
        </p:txBody>
      </p:sp>
      <p:sp>
        <p:nvSpPr>
          <p:cNvPr id="10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INDECI, balance del Simulacro Multipeligro 2023 (Exitosa); INDECI–CENEPRED citado por Infobae (dic. 2025). El último terremoto que destruyó Lima y Callao fue en 1746.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noticias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539496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4" name="icono-circulo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31874"/>
            <a:ext cx="285293" cy="285293"/>
          </a:xfrm>
          <a:prstGeom prst="rect">
            <a:avLst/>
          </a:prstGeom>
        </p:spPr>
      </p:pic>
      <p:sp>
        <p:nvSpPr>
          <p:cNvPr id="6" name="tarjeta-titulo"/>
          <p:cNvSpPr txBox="1"/>
          <p:nvPr/>
        </p:nvSpPr>
        <p:spPr>
          <a:xfrm>
            <a:off x="1463040" y="1600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Lluvias 2024–2025</a:t>
            </a:r>
            <a:endParaRPr lang="en-US" sz="1700" dirty="0"/>
          </a:p>
        </p:txBody>
      </p:sp>
      <p:sp>
        <p:nvSpPr>
          <p:cNvPr id="7" name="tarjeta-texto"/>
          <p:cNvSpPr txBox="1"/>
          <p:nvPr/>
        </p:nvSpPr>
        <p:spPr>
          <a:xfrm>
            <a:off x="777240" y="2286000"/>
            <a:ext cx="49377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INDECI reportó 1,771 emergencias, 47 fallecidos, 8,598 damnificados y 48,627 afectados desde diciembre de 2024. (Andina)</a:t>
            </a:r>
            <a:endParaRPr lang="en-US" sz="1500" dirty="0"/>
          </a:p>
        </p:txBody>
      </p:sp>
      <p:sp>
        <p:nvSpPr>
          <p:cNvPr id="8" name="tarjeta"/>
          <p:cNvSpPr/>
          <p:nvPr/>
        </p:nvSpPr>
        <p:spPr>
          <a:xfrm>
            <a:off x="6217920" y="1371600"/>
            <a:ext cx="539496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9" name="icono-circulo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1731874"/>
            <a:ext cx="285293" cy="285293"/>
          </a:xfrm>
          <a:prstGeom prst="rect">
            <a:avLst/>
          </a:prstGeom>
        </p:spPr>
      </p:pic>
      <p:sp>
        <p:nvSpPr>
          <p:cNvPr id="11" name="tarjeta-titulo"/>
          <p:cNvSpPr txBox="1"/>
          <p:nvPr/>
        </p:nvSpPr>
        <p:spPr>
          <a:xfrm>
            <a:off x="7132320" y="1600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Diciembre 2025</a:t>
            </a:r>
            <a:endParaRPr lang="en-US" sz="1700" dirty="0"/>
          </a:p>
        </p:txBody>
      </p:sp>
      <p:sp>
        <p:nvSpPr>
          <p:cNvPr id="12" name="tarjeta-texto"/>
          <p:cNvSpPr txBox="1"/>
          <p:nvPr/>
        </p:nvSpPr>
        <p:spPr>
          <a:xfrm>
            <a:off x="6446520" y="2286000"/>
            <a:ext cx="49377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INDECI alerta que miles de viviendas en Lima y Callao son vulnerables a un sismo de 8.8 por autoconstrucción y tipo de suelo. (Infobae)</a:t>
            </a:r>
            <a:endParaRPr lang="en-US" sz="1500" dirty="0"/>
          </a:p>
        </p:txBody>
      </p:sp>
      <p:sp>
        <p:nvSpPr>
          <p:cNvPr id="13" name="tarjeta"/>
          <p:cNvSpPr/>
          <p:nvPr/>
        </p:nvSpPr>
        <p:spPr>
          <a:xfrm>
            <a:off x="548640" y="3771900"/>
            <a:ext cx="539496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14" name="icono-circulo"/>
          <p:cNvSpPr/>
          <p:nvPr/>
        </p:nvSpPr>
        <p:spPr>
          <a:xfrm>
            <a:off x="77724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4132174"/>
            <a:ext cx="285293" cy="285293"/>
          </a:xfrm>
          <a:prstGeom prst="rect">
            <a:avLst/>
          </a:prstGeom>
        </p:spPr>
      </p:pic>
      <p:sp>
        <p:nvSpPr>
          <p:cNvPr id="16" name="tarjeta-titulo"/>
          <p:cNvSpPr txBox="1"/>
          <p:nvPr/>
        </p:nvSpPr>
        <p:spPr>
          <a:xfrm>
            <a:off x="1463040" y="40005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 2026</a:t>
            </a:r>
            <a:endParaRPr lang="en-US" sz="1700" dirty="0"/>
          </a:p>
        </p:txBody>
      </p:sp>
      <p:sp>
        <p:nvSpPr>
          <p:cNvPr id="17" name="tarjeta-texto"/>
          <p:cNvSpPr txBox="1"/>
          <p:nvPr/>
        </p:nvSpPr>
        <p:spPr>
          <a:xfrm>
            <a:off x="777240" y="4686300"/>
            <a:ext cx="49377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INDECI emite alerta por 508 distritos en riesgo de huaicos y deslizamientos por lluvias intensas. (Infobae)</a:t>
            </a:r>
            <a:endParaRPr lang="en-US" sz="1500" dirty="0"/>
          </a:p>
        </p:txBody>
      </p:sp>
      <p:sp>
        <p:nvSpPr>
          <p:cNvPr id="18" name="tarjeta"/>
          <p:cNvSpPr/>
          <p:nvPr/>
        </p:nvSpPr>
        <p:spPr>
          <a:xfrm>
            <a:off x="6217920" y="3771900"/>
            <a:ext cx="539496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19" name="icono-circulo"/>
          <p:cNvSpPr/>
          <p:nvPr/>
        </p:nvSpPr>
        <p:spPr>
          <a:xfrm>
            <a:off x="644652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194" y="4132174"/>
            <a:ext cx="285293" cy="285293"/>
          </a:xfrm>
          <a:prstGeom prst="rect">
            <a:avLst/>
          </a:prstGeom>
        </p:spPr>
      </p:pic>
      <p:sp>
        <p:nvSpPr>
          <p:cNvPr id="21" name="tarjeta-titulo"/>
          <p:cNvSpPr txBox="1"/>
          <p:nvPr/>
        </p:nvSpPr>
        <p:spPr>
          <a:xfrm>
            <a:off x="7132320" y="40005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32425 (2025)</a:t>
            </a:r>
            <a:endParaRPr lang="en-US" sz="1700" dirty="0"/>
          </a:p>
        </p:txBody>
      </p:sp>
      <p:sp>
        <p:nvSpPr>
          <p:cNvPr id="22" name="tarjeta-texto"/>
          <p:cNvSpPr txBox="1"/>
          <p:nvPr/>
        </p:nvSpPr>
        <p:spPr>
          <a:xfrm>
            <a:off x="6446520" y="4686300"/>
            <a:ext cx="49377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El Congreso prioriza muros de contención y escaleras en la cartera de inversión 2026–2028 de los tres niveles de gobierno. (Congreso)</a:t>
            </a:r>
            <a:endParaRPr lang="en-US" sz="1500" dirty="0"/>
          </a:p>
        </p:txBody>
      </p:sp>
      <p:sp>
        <p:nvSpPr>
          <p:cNvPr id="23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Andina, Infobae, Comunicaciones del Congreso de la República (2025–2026).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comprar o habilitar un lote: checklist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4" name="icono-circulo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31874"/>
            <a:ext cx="285293" cy="285293"/>
          </a:xfrm>
          <a:prstGeom prst="rect">
            <a:avLst/>
          </a:prstGeom>
        </p:spPr>
      </p:pic>
      <p:sp>
        <p:nvSpPr>
          <p:cNvPr id="6" name="tarjeta-titulo"/>
          <p:cNvSpPr txBox="1"/>
          <p:nvPr/>
        </p:nvSpPr>
        <p:spPr>
          <a:xfrm>
            <a:off x="146304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Zonificación</a:t>
            </a:r>
            <a:endParaRPr lang="en-US" sz="1700" dirty="0"/>
          </a:p>
        </p:txBody>
      </p:sp>
      <p:sp>
        <p:nvSpPr>
          <p:cNvPr id="7" name="tarjeta-texto"/>
          <p:cNvSpPr txBox="1"/>
          <p:nvPr/>
        </p:nvSpPr>
        <p:spPr>
          <a:xfrm>
            <a:off x="77724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Pedir el certificado de parámetros y zonificación. ¿Es zona urbana o de protección?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432816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9" name="icono-circulo"/>
          <p:cNvSpPr/>
          <p:nvPr/>
        </p:nvSpPr>
        <p:spPr>
          <a:xfrm>
            <a:off x="45567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434" y="1731874"/>
            <a:ext cx="285293" cy="285293"/>
          </a:xfrm>
          <a:prstGeom prst="rect">
            <a:avLst/>
          </a:prstGeom>
        </p:spPr>
      </p:pic>
      <p:sp>
        <p:nvSpPr>
          <p:cNvPr id="11" name="tarjeta-titulo"/>
          <p:cNvSpPr txBox="1"/>
          <p:nvPr/>
        </p:nvSpPr>
        <p:spPr>
          <a:xfrm>
            <a:off x="524256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Riesgo</a:t>
            </a:r>
            <a:endParaRPr lang="en-US" sz="1700" dirty="0"/>
          </a:p>
        </p:txBody>
      </p:sp>
      <p:sp>
        <p:nvSpPr>
          <p:cNvPr id="12" name="tarjeta-texto"/>
          <p:cNvSpPr txBox="1"/>
          <p:nvPr/>
        </p:nvSpPr>
        <p:spPr>
          <a:xfrm>
            <a:off x="455676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¿Está en quebrada, faja marginal o pendiente fuerte? Revisar el PPRRD y el SIGRID de CENEPRED.</a:t>
            </a:r>
            <a:endParaRPr lang="en-US" sz="1400" dirty="0"/>
          </a:p>
        </p:txBody>
      </p:sp>
      <p:sp>
        <p:nvSpPr>
          <p:cNvPr id="13" name="tarjeta"/>
          <p:cNvSpPr/>
          <p:nvPr/>
        </p:nvSpPr>
        <p:spPr>
          <a:xfrm>
            <a:off x="810768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14" name="icono-circulo"/>
          <p:cNvSpPr/>
          <p:nvPr/>
        </p:nvSpPr>
        <p:spPr>
          <a:xfrm>
            <a:off x="83362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954" y="1731874"/>
            <a:ext cx="285293" cy="285293"/>
          </a:xfrm>
          <a:prstGeom prst="rect">
            <a:avLst/>
          </a:prstGeom>
        </p:spPr>
      </p:pic>
      <p:sp>
        <p:nvSpPr>
          <p:cNvPr id="16" name="tarjeta-titulo"/>
          <p:cNvSpPr txBox="1"/>
          <p:nvPr/>
        </p:nvSpPr>
        <p:spPr>
          <a:xfrm>
            <a:off x="902208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Título</a:t>
            </a:r>
            <a:endParaRPr lang="en-US" sz="1700" dirty="0"/>
          </a:p>
        </p:txBody>
      </p:sp>
      <p:sp>
        <p:nvSpPr>
          <p:cNvPr id="17" name="tarjeta-texto"/>
          <p:cNvSpPr txBox="1"/>
          <p:nvPr/>
        </p:nvSpPr>
        <p:spPr>
          <a:xfrm>
            <a:off x="833628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Verificar en SUNARP. En zonas no mitigables no se otorga título ni servicios (Ley 30645).</a:t>
            </a:r>
            <a:endParaRPr lang="en-US" sz="1400" dirty="0"/>
          </a:p>
        </p:txBody>
      </p:sp>
      <p:sp>
        <p:nvSpPr>
          <p:cNvPr id="18" name="tarjeta"/>
          <p:cNvSpPr/>
          <p:nvPr/>
        </p:nvSpPr>
        <p:spPr>
          <a:xfrm>
            <a:off x="54864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19" name="icono-circulo"/>
          <p:cNvSpPr/>
          <p:nvPr/>
        </p:nvSpPr>
        <p:spPr>
          <a:xfrm>
            <a:off x="77724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132174"/>
            <a:ext cx="285293" cy="285293"/>
          </a:xfrm>
          <a:prstGeom prst="rect">
            <a:avLst/>
          </a:prstGeom>
        </p:spPr>
      </p:pic>
      <p:sp>
        <p:nvSpPr>
          <p:cNvPr id="21" name="tarjeta-titulo"/>
          <p:cNvSpPr txBox="1"/>
          <p:nvPr/>
        </p:nvSpPr>
        <p:spPr>
          <a:xfrm>
            <a:off x="146304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Factibilidad</a:t>
            </a:r>
            <a:endParaRPr lang="en-US" sz="1700" dirty="0"/>
          </a:p>
        </p:txBody>
      </p:sp>
      <p:sp>
        <p:nvSpPr>
          <p:cNvPr id="22" name="tarjeta-texto"/>
          <p:cNvSpPr txBox="1"/>
          <p:nvPr/>
        </p:nvSpPr>
        <p:spPr>
          <a:xfrm>
            <a:off x="77724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Agua, desagüe y luz deben tener factibilidad emitida por la empresa prestadora.</a:t>
            </a:r>
            <a:endParaRPr lang="en-US" sz="1400" dirty="0"/>
          </a:p>
        </p:txBody>
      </p:sp>
      <p:sp>
        <p:nvSpPr>
          <p:cNvPr id="23" name="tarjeta"/>
          <p:cNvSpPr/>
          <p:nvPr/>
        </p:nvSpPr>
        <p:spPr>
          <a:xfrm>
            <a:off x="432816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24" name="icono-circulo"/>
          <p:cNvSpPr/>
          <p:nvPr/>
        </p:nvSpPr>
        <p:spPr>
          <a:xfrm>
            <a:off x="455676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434" y="4132174"/>
            <a:ext cx="285293" cy="285293"/>
          </a:xfrm>
          <a:prstGeom prst="rect">
            <a:avLst/>
          </a:prstGeom>
        </p:spPr>
      </p:pic>
      <p:sp>
        <p:nvSpPr>
          <p:cNvPr id="26" name="tarjeta-titulo"/>
          <p:cNvSpPr txBox="1"/>
          <p:nvPr/>
        </p:nvSpPr>
        <p:spPr>
          <a:xfrm>
            <a:off x="524256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Licencia</a:t>
            </a:r>
            <a:endParaRPr lang="en-US" sz="1700" dirty="0"/>
          </a:p>
        </p:txBody>
      </p:sp>
      <p:sp>
        <p:nvSpPr>
          <p:cNvPr id="27" name="tarjeta-texto"/>
          <p:cNvSpPr txBox="1"/>
          <p:nvPr/>
        </p:nvSpPr>
        <p:spPr>
          <a:xfrm>
            <a:off x="455676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Construir con planos, licencia municipal y un ingeniero responsable.</a:t>
            </a:r>
            <a:endParaRPr lang="en-US" sz="1400" dirty="0"/>
          </a:p>
        </p:txBody>
      </p:sp>
      <p:sp>
        <p:nvSpPr>
          <p:cNvPr id="28" name="tarjeta"/>
          <p:cNvSpPr/>
          <p:nvPr/>
        </p:nvSpPr>
        <p:spPr>
          <a:xfrm>
            <a:off x="810768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29" name="icono-circulo"/>
          <p:cNvSpPr/>
          <p:nvPr/>
        </p:nvSpPr>
        <p:spPr>
          <a:xfrm>
            <a:off x="833628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954" y="4132174"/>
            <a:ext cx="285293" cy="285293"/>
          </a:xfrm>
          <a:prstGeom prst="rect">
            <a:avLst/>
          </a:prstGeom>
        </p:spPr>
      </p:pic>
      <p:sp>
        <p:nvSpPr>
          <p:cNvPr id="31" name="tarjeta-titulo"/>
          <p:cNvSpPr txBox="1"/>
          <p:nvPr/>
        </p:nvSpPr>
        <p:spPr>
          <a:xfrm>
            <a:off x="902208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Preparación</a:t>
            </a:r>
            <a:endParaRPr lang="en-US" sz="1700" dirty="0"/>
          </a:p>
        </p:txBody>
      </p:sp>
      <p:sp>
        <p:nvSpPr>
          <p:cNvPr id="32" name="tarjeta-texto"/>
          <p:cNvSpPr txBox="1"/>
          <p:nvPr/>
        </p:nvSpPr>
        <p:spPr>
          <a:xfrm>
            <a:off x="833628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Rutas de evacuación, mochila de emergencia y participación en simulacros.</a:t>
            </a:r>
            <a:endParaRPr lang="en-US" sz="1400" dirty="0"/>
          </a:p>
        </p:txBody>
      </p:sp>
      <p:sp>
        <p:nvSpPr>
          <p:cNvPr id="33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Ley 29090, Ley 30645, SIGRID-CENEPRED, INDECI.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35052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/>
        </p:spPr>
      </p:sp>
      <p:sp>
        <p:nvSpPr>
          <p:cNvPr id="4" name="tarjeta-titulo"/>
          <p:cNvSpPr txBox="1"/>
          <p:nvPr/>
        </p:nvSpPr>
        <p:spPr>
          <a:xfrm>
            <a:off x="777240" y="1600200"/>
            <a:ext cx="309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riesgo se construye</a:t>
            </a:r>
            <a:endParaRPr lang="en-US" sz="1700" dirty="0"/>
          </a:p>
        </p:txBody>
      </p:sp>
      <p:sp>
        <p:nvSpPr>
          <p:cNvPr id="5" name="tarjeta-texto"/>
          <p:cNvSpPr txBox="1"/>
          <p:nvPr/>
        </p:nvSpPr>
        <p:spPr>
          <a:xfrm>
            <a:off x="777240" y="2286000"/>
            <a:ext cx="304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Los desastres no son naturales: resultan de ocupar suelo peligroso con viviendas frágiles.</a:t>
            </a:r>
            <a:endParaRPr lang="en-US" sz="1500" dirty="0"/>
          </a:p>
        </p:txBody>
      </p:sp>
      <p:sp>
        <p:nvSpPr>
          <p:cNvPr id="6" name="tarjeta"/>
          <p:cNvSpPr/>
          <p:nvPr/>
        </p:nvSpPr>
        <p:spPr>
          <a:xfrm>
            <a:off x="4328160" y="1371600"/>
            <a:ext cx="35052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/>
        </p:spPr>
      </p:sp>
      <p:sp>
        <p:nvSpPr>
          <p:cNvPr id="7" name="tarjeta-titulo"/>
          <p:cNvSpPr txBox="1"/>
          <p:nvPr/>
        </p:nvSpPr>
        <p:spPr>
          <a:xfrm>
            <a:off x="4556760" y="1600200"/>
            <a:ext cx="309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norma existe</a:t>
            </a:r>
            <a:endParaRPr lang="en-US" sz="1700" dirty="0"/>
          </a:p>
        </p:txBody>
      </p:sp>
      <p:sp>
        <p:nvSpPr>
          <p:cNvPr id="8" name="tarjeta-texto"/>
          <p:cNvSpPr txBox="1"/>
          <p:nvPr/>
        </p:nvSpPr>
        <p:spPr>
          <a:xfrm>
            <a:off x="4556760" y="2286000"/>
            <a:ext cx="304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Ley 29090, SINAGERD y Ley 31313 dan las herramientas. Falla la fiscalización.</a:t>
            </a:r>
            <a:endParaRPr lang="en-US" sz="1500" dirty="0"/>
          </a:p>
        </p:txBody>
      </p:sp>
      <p:sp>
        <p:nvSpPr>
          <p:cNvPr id="9" name="tarjeta"/>
          <p:cNvSpPr/>
          <p:nvPr/>
        </p:nvSpPr>
        <p:spPr>
          <a:xfrm>
            <a:off x="8107680" y="1371600"/>
            <a:ext cx="35052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/>
        </p:spPr>
      </p:sp>
      <p:sp>
        <p:nvSpPr>
          <p:cNvPr id="10" name="tarjeta-titulo"/>
          <p:cNvSpPr txBox="1"/>
          <p:nvPr/>
        </p:nvSpPr>
        <p:spPr>
          <a:xfrm>
            <a:off x="8336280" y="1600200"/>
            <a:ext cx="309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Prevenir es más barato</a:t>
            </a:r>
            <a:endParaRPr lang="en-US" sz="1700" dirty="0"/>
          </a:p>
        </p:txBody>
      </p:sp>
      <p:sp>
        <p:nvSpPr>
          <p:cNvPr id="11" name="tarjeta-texto"/>
          <p:cNvSpPr txBox="1"/>
          <p:nvPr/>
        </p:nvSpPr>
        <p:spPr>
          <a:xfrm>
            <a:off x="8336280" y="2286000"/>
            <a:ext cx="304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Habilitar bien cuesta menos que muros, reubicaciones y reconstrucción.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805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Para debatir: ¿Debe el Estado dar agua y luz a un asentamiento ubicado en una quebrada activa? ¿Qué pasaría si no lo hace?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</a:t>
            </a:r>
            <a:endParaRPr lang="en-US" sz="32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Espinoza, A. y Fort, R. (2020). Mapeo y tipología de la expansión urbana en el Perú. GRADE / ADI.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Congreso de la República: Leyes 29090, 29664, 29869, 30556, 30645, 31313 y 32425. D.S. 029-2019-VIVIENDA; D.S. 048-2011-PCM.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CENEPRED: Plan Multisectorial 2026–2028 (escenarios de riesgo); Manual EVAR; SIGRID.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INDECI: reportes COEN; balance del Simulacro Multipeligro 2023; reporte El Niño Costero (agosto 2017).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Prensa: Andina (2025), Infobae (dic. 2025 y abr. 2026), Exitosa (2023), Diario Correo (2025), ACI Prensa (2017).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JICA / INEI: daños del sismo de Pisco 2007. Norma E.030 Diseño Sismorresistente (RNE).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sual C2">
  <a:themeElements>
    <a:clrScheme name="Visual C2">
      <a:dk1>
        <a:srgbClr val="141414"/>
      </a:dk1>
      <a:lt1>
        <a:srgbClr val="FFFFFF"/>
      </a:lt1>
      <a:dk2>
        <a:srgbClr val="4A4A4A"/>
      </a:dk2>
      <a:lt2>
        <a:srgbClr val="F3F3F3"/>
      </a:lt2>
      <a:accent1>
        <a:srgbClr val="F26B1D"/>
      </a:accent1>
      <a:accent2>
        <a:srgbClr val="FFB27A"/>
      </a:accent2>
      <a:accent3>
        <a:srgbClr val="7A7A7A"/>
      </a:accent3>
      <a:accent4>
        <a:srgbClr val="B34700"/>
      </a:accent4>
      <a:accent5>
        <a:srgbClr val="262626"/>
      </a:accent5>
      <a:accent6>
        <a:srgbClr val="C8C8C8"/>
      </a:accent6>
      <a:hlink>
        <a:srgbClr val="F26B1D"/>
      </a:hlink>
      <a:folHlink>
        <a:srgbClr val="B34700"/>
      </a:folHlink>
    </a:clrScheme>
    <a:fontScheme name="Visual C2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Habilitación urbana y gestión del riesgo de desastres</dc:title>
  <dc:subject>PptxGenJS Presentation</dc:subject>
  <dc:creator>Carlos Sánchez</dc:creator>
  <cp:lastModifiedBy>Carlos Sánchez</cp:lastModifiedBy>
  <cp:revision>1</cp:revision>
  <dcterms:created xsi:type="dcterms:W3CDTF">2026-10-28T16:52:31Z</dcterms:created>
  <dcterms:modified xsi:type="dcterms:W3CDTF">2026-10-28T16:52:31Z</dcterms:modified>
</cp:coreProperties>
</file>